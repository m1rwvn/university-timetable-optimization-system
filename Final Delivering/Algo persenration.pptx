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Noto Serif Display Semi-Bold Italics" charset="1" panose="02020702080505090204"/>
      <p:regular r:id="rId19"/>
    </p:embeddedFont>
    <p:embeddedFont>
      <p:font typeface="Public Sans Bold" charset="1" panose="00000000000000000000"/>
      <p:regular r:id="rId20"/>
    </p:embeddedFont>
    <p:embeddedFont>
      <p:font typeface="Recoleta Bold" charset="1" panose="00000800000000000000"/>
      <p:regular r:id="rId21"/>
    </p:embeddedFont>
    <p:embeddedFont>
      <p:font typeface="Public Sans" charset="1" panose="00000000000000000000"/>
      <p:regular r:id="rId22"/>
    </p:embeddedFont>
    <p:embeddedFont>
      <p:font typeface="Noto Serif Display" charset="1" panose="02020502080505020204"/>
      <p:regular r:id="rId23"/>
    </p:embeddedFont>
    <p:embeddedFont>
      <p:font typeface="Canva Sans" charset="1" panose="020B0503030501040103"/>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https://www.mdpi.com/2313-7673/9/2/65" TargetMode="External" Type="http://schemas.openxmlformats.org/officeDocument/2006/relationships/hyperlink"/></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0">
            <a:off x="1028700" y="1751768"/>
            <a:ext cx="16230600" cy="0"/>
          </a:xfrm>
          <a:prstGeom prst="line">
            <a:avLst/>
          </a:prstGeom>
          <a:ln cap="flat" w="28575">
            <a:solidFill>
              <a:srgbClr val="333333"/>
            </a:solidFill>
            <a:prstDash val="solid"/>
            <a:headEnd type="none" len="sm" w="sm"/>
            <a:tailEnd type="none" len="sm" w="sm"/>
          </a:ln>
        </p:spPr>
      </p:sp>
      <p:sp>
        <p:nvSpPr>
          <p:cNvPr name="TextBox 3" id="3"/>
          <p:cNvSpPr txBox="true"/>
          <p:nvPr/>
        </p:nvSpPr>
        <p:spPr>
          <a:xfrm rot="0">
            <a:off x="1028700" y="2266118"/>
            <a:ext cx="16895691" cy="3770630"/>
          </a:xfrm>
          <a:prstGeom prst="rect">
            <a:avLst/>
          </a:prstGeom>
        </p:spPr>
        <p:txBody>
          <a:bodyPr anchor="t" rtlCol="false" tIns="0" lIns="0" bIns="0" rIns="0">
            <a:spAutoFit/>
          </a:bodyPr>
          <a:lstStyle/>
          <a:p>
            <a:pPr algn="l">
              <a:lnSpc>
                <a:spcPts val="14740"/>
              </a:lnSpc>
            </a:pPr>
            <a:r>
              <a:rPr lang="en-US" b="true" sz="13400" i="true" spc="-656">
                <a:solidFill>
                  <a:srgbClr val="333333"/>
                </a:solidFill>
                <a:latin typeface="Noto Serif Display Semi-Bold Italics"/>
                <a:ea typeface="Noto Serif Display Semi-Bold Italics"/>
                <a:cs typeface="Noto Serif Display Semi-Bold Italics"/>
                <a:sym typeface="Noto Serif Display Semi-Bold Italics"/>
              </a:rPr>
              <a:t>solving the timetable scheduling</a:t>
            </a:r>
            <a:r>
              <a:rPr lang="en-US" b="true" sz="13400" i="true" spc="-656">
                <a:solidFill>
                  <a:srgbClr val="333333"/>
                </a:solidFill>
                <a:latin typeface="Noto Serif Display Semi-Bold Italics"/>
                <a:ea typeface="Noto Serif Display Semi-Bold Italics"/>
                <a:cs typeface="Noto Serif Display Semi-Bold Italics"/>
                <a:sym typeface="Noto Serif Display Semi-Bold Italics"/>
              </a:rPr>
              <a:t> </a:t>
            </a:r>
          </a:p>
        </p:txBody>
      </p:sp>
      <p:sp>
        <p:nvSpPr>
          <p:cNvPr name="TextBox 4" id="4"/>
          <p:cNvSpPr txBox="true"/>
          <p:nvPr/>
        </p:nvSpPr>
        <p:spPr>
          <a:xfrm rot="0">
            <a:off x="-135842" y="967543"/>
            <a:ext cx="5036818" cy="431800"/>
          </a:xfrm>
          <a:prstGeom prst="rect">
            <a:avLst/>
          </a:prstGeom>
        </p:spPr>
        <p:txBody>
          <a:bodyPr anchor="t" rtlCol="false" tIns="0" lIns="0" bIns="0" rIns="0">
            <a:spAutoFit/>
          </a:bodyPr>
          <a:lstStyle/>
          <a:p>
            <a:pPr algn="r">
              <a:lnSpc>
                <a:spcPts val="3499"/>
              </a:lnSpc>
            </a:pPr>
            <a:r>
              <a:rPr lang="en-US" b="true" sz="2499">
                <a:solidFill>
                  <a:srgbClr val="333333"/>
                </a:solidFill>
                <a:latin typeface="Public Sans Bold"/>
                <a:ea typeface="Public Sans Bold"/>
                <a:cs typeface="Public Sans Bold"/>
                <a:sym typeface="Public Sans Bold"/>
              </a:rPr>
              <a:t>Algorithm Presentation</a:t>
            </a:r>
          </a:p>
        </p:txBody>
      </p:sp>
      <p:sp>
        <p:nvSpPr>
          <p:cNvPr name="TextBox 5" id="5"/>
          <p:cNvSpPr txBox="true"/>
          <p:nvPr/>
        </p:nvSpPr>
        <p:spPr>
          <a:xfrm rot="0">
            <a:off x="9476545" y="5841156"/>
            <a:ext cx="8811455" cy="973237"/>
          </a:xfrm>
          <a:prstGeom prst="rect">
            <a:avLst/>
          </a:prstGeom>
        </p:spPr>
        <p:txBody>
          <a:bodyPr anchor="t" rtlCol="false" tIns="0" lIns="0" bIns="0" rIns="0">
            <a:spAutoFit/>
          </a:bodyPr>
          <a:lstStyle/>
          <a:p>
            <a:pPr algn="l">
              <a:lnSpc>
                <a:spcPts val="4429"/>
              </a:lnSpc>
            </a:pPr>
            <a:r>
              <a:rPr lang="en-US" sz="3164" b="true">
                <a:solidFill>
                  <a:srgbClr val="333333"/>
                </a:solidFill>
                <a:latin typeface="Public Sans Bold"/>
                <a:ea typeface="Public Sans Bold"/>
                <a:cs typeface="Public Sans Bold"/>
                <a:sym typeface="Public Sans Bold"/>
              </a:rPr>
              <a:t>Using the Pufferfish optimization algorithm</a:t>
            </a:r>
          </a:p>
          <a:p>
            <a:pPr algn="l">
              <a:lnSpc>
                <a:spcPts val="3355"/>
              </a:lnSpc>
            </a:pPr>
          </a:p>
        </p:txBody>
      </p:sp>
      <p:sp>
        <p:nvSpPr>
          <p:cNvPr name="TextBox 6" id="6"/>
          <p:cNvSpPr txBox="true"/>
          <p:nvPr/>
        </p:nvSpPr>
        <p:spPr>
          <a:xfrm rot="0">
            <a:off x="1028700" y="6524936"/>
            <a:ext cx="2290493" cy="521765"/>
          </a:xfrm>
          <a:prstGeom prst="rect">
            <a:avLst/>
          </a:prstGeom>
        </p:spPr>
        <p:txBody>
          <a:bodyPr anchor="t" rtlCol="false" tIns="0" lIns="0" bIns="0" rIns="0">
            <a:spAutoFit/>
          </a:bodyPr>
          <a:lstStyle/>
          <a:p>
            <a:pPr algn="l">
              <a:lnSpc>
                <a:spcPts val="4316"/>
              </a:lnSpc>
            </a:pPr>
            <a:r>
              <a:rPr lang="en-US" sz="3083" b="true">
                <a:solidFill>
                  <a:srgbClr val="333333"/>
                </a:solidFill>
                <a:latin typeface="Recoleta Bold"/>
                <a:ea typeface="Recoleta Bold"/>
                <a:cs typeface="Recoleta Bold"/>
                <a:sym typeface="Recoleta Bold"/>
              </a:rPr>
              <a:t>MEMBRES:</a:t>
            </a:r>
          </a:p>
        </p:txBody>
      </p:sp>
      <p:sp>
        <p:nvSpPr>
          <p:cNvPr name="TextBox 7" id="7"/>
          <p:cNvSpPr txBox="true"/>
          <p:nvPr/>
        </p:nvSpPr>
        <p:spPr>
          <a:xfrm rot="0">
            <a:off x="1202761" y="7204650"/>
            <a:ext cx="8811455" cy="2510866"/>
          </a:xfrm>
          <a:prstGeom prst="rect">
            <a:avLst/>
          </a:prstGeom>
        </p:spPr>
        <p:txBody>
          <a:bodyPr anchor="t" rtlCol="false" tIns="0" lIns="0" bIns="0" rIns="0">
            <a:spAutoFit/>
          </a:bodyPr>
          <a:lstStyle/>
          <a:p>
            <a:pPr algn="l">
              <a:lnSpc>
                <a:spcPts val="3355"/>
              </a:lnSpc>
            </a:pPr>
            <a:r>
              <a:rPr lang="en-US" sz="2397" b="true">
                <a:solidFill>
                  <a:srgbClr val="333333"/>
                </a:solidFill>
                <a:latin typeface="Public Sans Bold"/>
                <a:ea typeface="Public Sans Bold"/>
                <a:cs typeface="Public Sans Bold"/>
                <a:sym typeface="Public Sans Bold"/>
              </a:rPr>
              <a:t>Marwan Mohamed Mohamed Soliman</a:t>
            </a:r>
          </a:p>
          <a:p>
            <a:pPr algn="l">
              <a:lnSpc>
                <a:spcPts val="3355"/>
              </a:lnSpc>
            </a:pPr>
            <a:r>
              <a:rPr lang="en-US" sz="2397" b="true">
                <a:solidFill>
                  <a:srgbClr val="333333"/>
                </a:solidFill>
                <a:latin typeface="Public Sans Bold"/>
                <a:ea typeface="Public Sans Bold"/>
                <a:cs typeface="Public Sans Bold"/>
                <a:sym typeface="Public Sans Bold"/>
              </a:rPr>
              <a:t>Mariam Sherif Mostafa Hussien</a:t>
            </a:r>
          </a:p>
          <a:p>
            <a:pPr algn="l">
              <a:lnSpc>
                <a:spcPts val="3355"/>
              </a:lnSpc>
            </a:pPr>
            <a:r>
              <a:rPr lang="en-US" sz="2397" b="true">
                <a:solidFill>
                  <a:srgbClr val="333333"/>
                </a:solidFill>
                <a:latin typeface="Public Sans Bold"/>
                <a:ea typeface="Public Sans Bold"/>
                <a:cs typeface="Public Sans Bold"/>
                <a:sym typeface="Public Sans Bold"/>
              </a:rPr>
              <a:t>Mariam Mohamed Ahmed Ahmed </a:t>
            </a:r>
          </a:p>
          <a:p>
            <a:pPr algn="l">
              <a:lnSpc>
                <a:spcPts val="3355"/>
              </a:lnSpc>
            </a:pPr>
            <a:r>
              <a:rPr lang="en-US" sz="2397" b="true">
                <a:solidFill>
                  <a:srgbClr val="333333"/>
                </a:solidFill>
                <a:latin typeface="Public Sans Bold"/>
                <a:ea typeface="Public Sans Bold"/>
                <a:cs typeface="Public Sans Bold"/>
                <a:sym typeface="Public Sans Bold"/>
              </a:rPr>
              <a:t>Malak Mahmoud Metawea Elrefaei</a:t>
            </a:r>
          </a:p>
          <a:p>
            <a:pPr algn="l">
              <a:lnSpc>
                <a:spcPts val="3355"/>
              </a:lnSpc>
            </a:pPr>
            <a:r>
              <a:rPr lang="en-US" sz="2397" b="true">
                <a:solidFill>
                  <a:srgbClr val="333333"/>
                </a:solidFill>
                <a:latin typeface="Public Sans Bold"/>
                <a:ea typeface="Public Sans Bold"/>
                <a:cs typeface="Public Sans Bold"/>
                <a:sym typeface="Public Sans Bold"/>
              </a:rPr>
              <a:t>Nourhan Ayman Mahmoud Elhadad</a:t>
            </a:r>
          </a:p>
          <a:p>
            <a:pPr algn="l">
              <a:lnSpc>
                <a:spcPts val="3355"/>
              </a:lnSpc>
            </a:pPr>
          </a:p>
        </p:txBody>
      </p:sp>
      <p:sp>
        <p:nvSpPr>
          <p:cNvPr name="TextBox 8" id="8"/>
          <p:cNvSpPr txBox="true"/>
          <p:nvPr/>
        </p:nvSpPr>
        <p:spPr>
          <a:xfrm rot="0">
            <a:off x="10290406" y="967543"/>
            <a:ext cx="6968894" cy="431800"/>
          </a:xfrm>
          <a:prstGeom prst="rect">
            <a:avLst/>
          </a:prstGeom>
        </p:spPr>
        <p:txBody>
          <a:bodyPr anchor="t" rtlCol="false" tIns="0" lIns="0" bIns="0" rIns="0">
            <a:spAutoFit/>
          </a:bodyPr>
          <a:lstStyle/>
          <a:p>
            <a:pPr algn="r">
              <a:lnSpc>
                <a:spcPts val="3499"/>
              </a:lnSpc>
            </a:pPr>
            <a:r>
              <a:rPr lang="en-US" b="true" sz="2499">
                <a:solidFill>
                  <a:srgbClr val="333333"/>
                </a:solidFill>
                <a:latin typeface="Public Sans Bold"/>
                <a:ea typeface="Public Sans Bold"/>
                <a:cs typeface="Public Sans Bold"/>
                <a:sym typeface="Public Sans Bold"/>
              </a:rPr>
              <a:t>Faculty Of Computer Science &amp; Engineering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0">
            <a:off x="1028700" y="1751768"/>
            <a:ext cx="16230600" cy="0"/>
          </a:xfrm>
          <a:prstGeom prst="line">
            <a:avLst/>
          </a:prstGeom>
          <a:ln cap="flat" w="28575">
            <a:solidFill>
              <a:srgbClr val="333333"/>
            </a:solidFill>
            <a:prstDash val="solid"/>
            <a:headEnd type="none" len="sm" w="sm"/>
            <a:tailEnd type="none" len="sm" w="sm"/>
          </a:ln>
        </p:spPr>
      </p:sp>
      <p:sp>
        <p:nvSpPr>
          <p:cNvPr name="AutoShape 3" id="3"/>
          <p:cNvSpPr/>
          <p:nvPr/>
        </p:nvSpPr>
        <p:spPr>
          <a:xfrm rot="0">
            <a:off x="5670483" y="5982219"/>
            <a:ext cx="5020210" cy="0"/>
          </a:xfrm>
          <a:prstGeom prst="line">
            <a:avLst/>
          </a:prstGeom>
          <a:ln cap="flat" w="28575">
            <a:solidFill>
              <a:srgbClr val="333333"/>
            </a:solidFill>
            <a:prstDash val="solid"/>
            <a:headEnd type="none" len="sm" w="sm"/>
            <a:tailEnd type="none" len="sm" w="sm"/>
          </a:ln>
        </p:spPr>
      </p:sp>
      <p:sp>
        <p:nvSpPr>
          <p:cNvPr name="AutoShape 4" id="4"/>
          <p:cNvSpPr/>
          <p:nvPr/>
        </p:nvSpPr>
        <p:spPr>
          <a:xfrm rot="0">
            <a:off x="5670483" y="6657892"/>
            <a:ext cx="5020210" cy="0"/>
          </a:xfrm>
          <a:prstGeom prst="line">
            <a:avLst/>
          </a:prstGeom>
          <a:ln cap="flat" w="28575">
            <a:solidFill>
              <a:srgbClr val="333333"/>
            </a:solidFill>
            <a:prstDash val="solid"/>
            <a:headEnd type="none" len="sm" w="sm"/>
            <a:tailEnd type="none" len="sm" w="sm"/>
          </a:ln>
        </p:spPr>
      </p:sp>
      <p:sp>
        <p:nvSpPr>
          <p:cNvPr name="AutoShape 5" id="5"/>
          <p:cNvSpPr/>
          <p:nvPr/>
        </p:nvSpPr>
        <p:spPr>
          <a:xfrm rot="0">
            <a:off x="5670483" y="7334250"/>
            <a:ext cx="5020210" cy="0"/>
          </a:xfrm>
          <a:prstGeom prst="line">
            <a:avLst/>
          </a:prstGeom>
          <a:ln cap="flat" w="28575">
            <a:solidFill>
              <a:srgbClr val="333333"/>
            </a:solidFill>
            <a:prstDash val="solid"/>
            <a:headEnd type="none" len="sm" w="sm"/>
            <a:tailEnd type="none" len="sm" w="sm"/>
          </a:ln>
        </p:spPr>
      </p:sp>
      <p:sp>
        <p:nvSpPr>
          <p:cNvPr name="AutoShape 6" id="6"/>
          <p:cNvSpPr/>
          <p:nvPr/>
        </p:nvSpPr>
        <p:spPr>
          <a:xfrm rot="0">
            <a:off x="5670483" y="8010525"/>
            <a:ext cx="5020210" cy="0"/>
          </a:xfrm>
          <a:prstGeom prst="line">
            <a:avLst/>
          </a:prstGeom>
          <a:ln cap="flat" w="28575">
            <a:solidFill>
              <a:srgbClr val="333333"/>
            </a:solidFill>
            <a:prstDash val="solid"/>
            <a:headEnd type="none" len="sm" w="sm"/>
            <a:tailEnd type="none" len="sm" w="sm"/>
          </a:ln>
        </p:spPr>
      </p:sp>
      <p:sp>
        <p:nvSpPr>
          <p:cNvPr name="AutoShape 7" id="7"/>
          <p:cNvSpPr/>
          <p:nvPr/>
        </p:nvSpPr>
        <p:spPr>
          <a:xfrm rot="0">
            <a:off x="5670483" y="8686800"/>
            <a:ext cx="5020210" cy="0"/>
          </a:xfrm>
          <a:prstGeom prst="line">
            <a:avLst/>
          </a:prstGeom>
          <a:ln cap="flat" w="28575">
            <a:solidFill>
              <a:srgbClr val="333333"/>
            </a:solidFill>
            <a:prstDash val="solid"/>
            <a:headEnd type="none" len="sm" w="sm"/>
            <a:tailEnd type="none" len="sm" w="sm"/>
          </a:ln>
        </p:spPr>
      </p:sp>
      <p:sp>
        <p:nvSpPr>
          <p:cNvPr name="AutoShape 8" id="8"/>
          <p:cNvSpPr/>
          <p:nvPr/>
        </p:nvSpPr>
        <p:spPr>
          <a:xfrm rot="0">
            <a:off x="12239090" y="5982219"/>
            <a:ext cx="5020210" cy="0"/>
          </a:xfrm>
          <a:prstGeom prst="line">
            <a:avLst/>
          </a:prstGeom>
          <a:ln cap="flat" w="28575">
            <a:solidFill>
              <a:srgbClr val="333333"/>
            </a:solidFill>
            <a:prstDash val="solid"/>
            <a:headEnd type="none" len="sm" w="sm"/>
            <a:tailEnd type="none" len="sm" w="sm"/>
          </a:ln>
        </p:spPr>
      </p:sp>
      <p:sp>
        <p:nvSpPr>
          <p:cNvPr name="AutoShape 9" id="9"/>
          <p:cNvSpPr/>
          <p:nvPr/>
        </p:nvSpPr>
        <p:spPr>
          <a:xfrm rot="0">
            <a:off x="12239090" y="6657892"/>
            <a:ext cx="5020210" cy="0"/>
          </a:xfrm>
          <a:prstGeom prst="line">
            <a:avLst/>
          </a:prstGeom>
          <a:ln cap="flat" w="28575">
            <a:solidFill>
              <a:srgbClr val="333333"/>
            </a:solidFill>
            <a:prstDash val="solid"/>
            <a:headEnd type="none" len="sm" w="sm"/>
            <a:tailEnd type="none" len="sm" w="sm"/>
          </a:ln>
        </p:spPr>
      </p:sp>
      <p:sp>
        <p:nvSpPr>
          <p:cNvPr name="Freeform 10" id="10"/>
          <p:cNvSpPr/>
          <p:nvPr/>
        </p:nvSpPr>
        <p:spPr>
          <a:xfrm flipH="false" flipV="false" rot="0">
            <a:off x="-5257832" y="7229475"/>
            <a:ext cx="8382166" cy="8382166"/>
          </a:xfrm>
          <a:custGeom>
            <a:avLst/>
            <a:gdLst/>
            <a:ahLst/>
            <a:cxnLst/>
            <a:rect r="r" b="b" t="t" l="l"/>
            <a:pathLst>
              <a:path h="8382166" w="8382166">
                <a:moveTo>
                  <a:pt x="0" y="0"/>
                </a:moveTo>
                <a:lnTo>
                  <a:pt x="8382166" y="0"/>
                </a:lnTo>
                <a:lnTo>
                  <a:pt x="8382166" y="8382166"/>
                </a:lnTo>
                <a:lnTo>
                  <a:pt x="0" y="83821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1" id="11"/>
          <p:cNvSpPr txBox="true"/>
          <p:nvPr/>
        </p:nvSpPr>
        <p:spPr>
          <a:xfrm rot="0">
            <a:off x="1028700" y="2458154"/>
            <a:ext cx="13919249" cy="2057400"/>
          </a:xfrm>
          <a:prstGeom prst="rect">
            <a:avLst/>
          </a:prstGeom>
        </p:spPr>
        <p:txBody>
          <a:bodyPr anchor="t" rtlCol="false" tIns="0" lIns="0" bIns="0" rIns="0">
            <a:spAutoFit/>
          </a:bodyPr>
          <a:lstStyle/>
          <a:p>
            <a:pPr algn="l">
              <a:lnSpc>
                <a:spcPts val="16200"/>
              </a:lnSpc>
            </a:pPr>
            <a:r>
              <a:rPr lang="en-US" b="true" sz="13500" i="true" spc="-661">
                <a:solidFill>
                  <a:srgbClr val="333333"/>
                </a:solidFill>
                <a:latin typeface="Noto Serif Display Semi-Bold Italics"/>
                <a:ea typeface="Noto Serif Display Semi-Bold Italics"/>
                <a:cs typeface="Noto Serif Display Semi-Bold Italics"/>
                <a:sym typeface="Noto Serif Display Semi-Bold Italics"/>
              </a:rPr>
              <a:t>Agenda</a:t>
            </a:r>
          </a:p>
        </p:txBody>
      </p:sp>
      <p:sp>
        <p:nvSpPr>
          <p:cNvPr name="TextBox 12" id="12"/>
          <p:cNvSpPr txBox="true"/>
          <p:nvPr/>
        </p:nvSpPr>
        <p:spPr>
          <a:xfrm rot="0">
            <a:off x="5653875" y="6019717"/>
            <a:ext cx="5036818" cy="533400"/>
          </a:xfrm>
          <a:prstGeom prst="rect">
            <a:avLst/>
          </a:prstGeom>
        </p:spPr>
        <p:txBody>
          <a:bodyPr anchor="t" rtlCol="false" tIns="0" lIns="0" bIns="0" rIns="0">
            <a:spAutoFit/>
          </a:bodyPr>
          <a:lstStyle/>
          <a:p>
            <a:pPr algn="just">
              <a:lnSpc>
                <a:spcPts val="4200"/>
              </a:lnSpc>
            </a:pPr>
            <a:r>
              <a:rPr lang="en-US" sz="3000">
                <a:solidFill>
                  <a:srgbClr val="333333"/>
                </a:solidFill>
                <a:latin typeface="Public Sans"/>
                <a:ea typeface="Public Sans"/>
                <a:cs typeface="Public Sans"/>
                <a:sym typeface="Public Sans"/>
              </a:rPr>
              <a:t>Objective </a:t>
            </a:r>
          </a:p>
        </p:txBody>
      </p:sp>
      <p:sp>
        <p:nvSpPr>
          <p:cNvPr name="TextBox 13" id="13"/>
          <p:cNvSpPr txBox="true"/>
          <p:nvPr/>
        </p:nvSpPr>
        <p:spPr>
          <a:xfrm rot="0">
            <a:off x="5653875" y="6696075"/>
            <a:ext cx="5036818" cy="533400"/>
          </a:xfrm>
          <a:prstGeom prst="rect">
            <a:avLst/>
          </a:prstGeom>
        </p:spPr>
        <p:txBody>
          <a:bodyPr anchor="t" rtlCol="false" tIns="0" lIns="0" bIns="0" rIns="0">
            <a:spAutoFit/>
          </a:bodyPr>
          <a:lstStyle/>
          <a:p>
            <a:pPr algn="just">
              <a:lnSpc>
                <a:spcPts val="4200"/>
              </a:lnSpc>
            </a:pPr>
            <a:r>
              <a:rPr lang="en-US" sz="3000">
                <a:solidFill>
                  <a:srgbClr val="333333"/>
                </a:solidFill>
                <a:latin typeface="Public Sans"/>
                <a:ea typeface="Public Sans"/>
                <a:cs typeface="Public Sans"/>
                <a:sym typeface="Public Sans"/>
              </a:rPr>
              <a:t>Aim Of the Project</a:t>
            </a:r>
          </a:p>
        </p:txBody>
      </p:sp>
      <p:sp>
        <p:nvSpPr>
          <p:cNvPr name="TextBox 14" id="14"/>
          <p:cNvSpPr txBox="true"/>
          <p:nvPr/>
        </p:nvSpPr>
        <p:spPr>
          <a:xfrm rot="0">
            <a:off x="5653875" y="7372350"/>
            <a:ext cx="5036818" cy="533400"/>
          </a:xfrm>
          <a:prstGeom prst="rect">
            <a:avLst/>
          </a:prstGeom>
        </p:spPr>
        <p:txBody>
          <a:bodyPr anchor="t" rtlCol="false" tIns="0" lIns="0" bIns="0" rIns="0">
            <a:spAutoFit/>
          </a:bodyPr>
          <a:lstStyle/>
          <a:p>
            <a:pPr algn="just">
              <a:lnSpc>
                <a:spcPts val="4200"/>
              </a:lnSpc>
            </a:pPr>
            <a:r>
              <a:rPr lang="en-US" sz="3000">
                <a:solidFill>
                  <a:srgbClr val="333333"/>
                </a:solidFill>
                <a:latin typeface="Public Sans"/>
                <a:ea typeface="Public Sans"/>
                <a:cs typeface="Public Sans"/>
                <a:sym typeface="Public Sans"/>
              </a:rPr>
              <a:t>Problem Formulation</a:t>
            </a:r>
          </a:p>
        </p:txBody>
      </p:sp>
      <p:sp>
        <p:nvSpPr>
          <p:cNvPr name="TextBox 15" id="15"/>
          <p:cNvSpPr txBox="true"/>
          <p:nvPr/>
        </p:nvSpPr>
        <p:spPr>
          <a:xfrm rot="0">
            <a:off x="5653875" y="8048625"/>
            <a:ext cx="5036818" cy="533400"/>
          </a:xfrm>
          <a:prstGeom prst="rect">
            <a:avLst/>
          </a:prstGeom>
        </p:spPr>
        <p:txBody>
          <a:bodyPr anchor="t" rtlCol="false" tIns="0" lIns="0" bIns="0" rIns="0">
            <a:spAutoFit/>
          </a:bodyPr>
          <a:lstStyle/>
          <a:p>
            <a:pPr algn="just">
              <a:lnSpc>
                <a:spcPts val="4200"/>
              </a:lnSpc>
            </a:pPr>
            <a:r>
              <a:rPr lang="en-US" sz="3000">
                <a:solidFill>
                  <a:srgbClr val="333333"/>
                </a:solidFill>
                <a:latin typeface="Public Sans"/>
                <a:ea typeface="Public Sans"/>
                <a:cs typeface="Public Sans"/>
                <a:sym typeface="Public Sans"/>
              </a:rPr>
              <a:t>The Developed Algorithim</a:t>
            </a:r>
          </a:p>
        </p:txBody>
      </p:sp>
      <p:sp>
        <p:nvSpPr>
          <p:cNvPr name="TextBox 16" id="16"/>
          <p:cNvSpPr txBox="true"/>
          <p:nvPr/>
        </p:nvSpPr>
        <p:spPr>
          <a:xfrm rot="0">
            <a:off x="5653875" y="8724900"/>
            <a:ext cx="5036818" cy="533400"/>
          </a:xfrm>
          <a:prstGeom prst="rect">
            <a:avLst/>
          </a:prstGeom>
        </p:spPr>
        <p:txBody>
          <a:bodyPr anchor="t" rtlCol="false" tIns="0" lIns="0" bIns="0" rIns="0">
            <a:spAutoFit/>
          </a:bodyPr>
          <a:lstStyle/>
          <a:p>
            <a:pPr algn="just">
              <a:lnSpc>
                <a:spcPts val="4200"/>
              </a:lnSpc>
            </a:pPr>
            <a:r>
              <a:rPr lang="en-US" sz="3000">
                <a:solidFill>
                  <a:srgbClr val="333333"/>
                </a:solidFill>
                <a:latin typeface="Public Sans"/>
                <a:ea typeface="Public Sans"/>
                <a:cs typeface="Public Sans"/>
                <a:sym typeface="Public Sans"/>
              </a:rPr>
              <a:t>Experimentation</a:t>
            </a:r>
          </a:p>
        </p:txBody>
      </p:sp>
      <p:sp>
        <p:nvSpPr>
          <p:cNvPr name="TextBox 17" id="17"/>
          <p:cNvSpPr txBox="true"/>
          <p:nvPr/>
        </p:nvSpPr>
        <p:spPr>
          <a:xfrm rot="0">
            <a:off x="5653875" y="5343442"/>
            <a:ext cx="5036818" cy="533400"/>
          </a:xfrm>
          <a:prstGeom prst="rect">
            <a:avLst/>
          </a:prstGeom>
        </p:spPr>
        <p:txBody>
          <a:bodyPr anchor="t" rtlCol="false" tIns="0" lIns="0" bIns="0" rIns="0">
            <a:spAutoFit/>
          </a:bodyPr>
          <a:lstStyle/>
          <a:p>
            <a:pPr algn="just">
              <a:lnSpc>
                <a:spcPts val="4200"/>
              </a:lnSpc>
            </a:pPr>
            <a:r>
              <a:rPr lang="en-US" sz="3000">
                <a:solidFill>
                  <a:srgbClr val="333333"/>
                </a:solidFill>
                <a:latin typeface="Public Sans"/>
                <a:ea typeface="Public Sans"/>
                <a:cs typeface="Public Sans"/>
                <a:sym typeface="Public Sans"/>
              </a:rPr>
              <a:t>Abstract</a:t>
            </a:r>
          </a:p>
        </p:txBody>
      </p:sp>
      <p:sp>
        <p:nvSpPr>
          <p:cNvPr name="TextBox 18" id="18"/>
          <p:cNvSpPr txBox="true"/>
          <p:nvPr/>
        </p:nvSpPr>
        <p:spPr>
          <a:xfrm rot="0">
            <a:off x="12222482" y="6019717"/>
            <a:ext cx="5036818" cy="533400"/>
          </a:xfrm>
          <a:prstGeom prst="rect">
            <a:avLst/>
          </a:prstGeom>
        </p:spPr>
        <p:txBody>
          <a:bodyPr anchor="t" rtlCol="false" tIns="0" lIns="0" bIns="0" rIns="0">
            <a:spAutoFit/>
          </a:bodyPr>
          <a:lstStyle/>
          <a:p>
            <a:pPr algn="just">
              <a:lnSpc>
                <a:spcPts val="4200"/>
              </a:lnSpc>
            </a:pPr>
            <a:r>
              <a:rPr lang="en-US" sz="3000">
                <a:solidFill>
                  <a:srgbClr val="333333"/>
                </a:solidFill>
                <a:latin typeface="Public Sans"/>
                <a:ea typeface="Public Sans"/>
                <a:cs typeface="Public Sans"/>
                <a:sym typeface="Public Sans"/>
              </a:rPr>
              <a:t>References</a:t>
            </a:r>
          </a:p>
        </p:txBody>
      </p:sp>
      <p:sp>
        <p:nvSpPr>
          <p:cNvPr name="TextBox 19" id="19"/>
          <p:cNvSpPr txBox="true"/>
          <p:nvPr/>
        </p:nvSpPr>
        <p:spPr>
          <a:xfrm rot="0">
            <a:off x="12222482" y="5343442"/>
            <a:ext cx="5036818" cy="533400"/>
          </a:xfrm>
          <a:prstGeom prst="rect">
            <a:avLst/>
          </a:prstGeom>
        </p:spPr>
        <p:txBody>
          <a:bodyPr anchor="t" rtlCol="false" tIns="0" lIns="0" bIns="0" rIns="0">
            <a:spAutoFit/>
          </a:bodyPr>
          <a:lstStyle/>
          <a:p>
            <a:pPr algn="just">
              <a:lnSpc>
                <a:spcPts val="4200"/>
              </a:lnSpc>
            </a:pPr>
            <a:r>
              <a:rPr lang="en-US" sz="3000">
                <a:solidFill>
                  <a:srgbClr val="333333"/>
                </a:solidFill>
                <a:latin typeface="Public Sans"/>
                <a:ea typeface="Public Sans"/>
                <a:cs typeface="Public Sans"/>
                <a:sym typeface="Public Sans"/>
              </a:rPr>
              <a:t>Conclusion</a:t>
            </a:r>
          </a:p>
        </p:txBody>
      </p:sp>
      <p:sp>
        <p:nvSpPr>
          <p:cNvPr name="AutoShape 20" id="20"/>
          <p:cNvSpPr/>
          <p:nvPr/>
        </p:nvSpPr>
        <p:spPr>
          <a:xfrm rot="0">
            <a:off x="8679763" y="3657517"/>
            <a:ext cx="3559327" cy="0"/>
          </a:xfrm>
          <a:prstGeom prst="line">
            <a:avLst/>
          </a:prstGeom>
          <a:ln cap="flat" w="47625">
            <a:solidFill>
              <a:srgbClr val="333333"/>
            </a:solidFill>
            <a:prstDash val="solid"/>
            <a:headEnd type="none" len="sm" w="sm"/>
            <a:tailEnd type="arrow" len="sm" w="med"/>
          </a:ln>
        </p:spPr>
      </p:sp>
    </p:spTree>
  </p:cSld>
  <p:clrMapOvr>
    <a:masterClrMapping/>
  </p:clrMapOvr>
</p:sld>
</file>

<file path=ppt/slides/slide3.xml><?xml version="1.0" encoding="utf-8"?>
<p:sld xmlns:p="http://schemas.openxmlformats.org/presentationml/2006/main" xmlns:a="http://schemas.openxmlformats.org/drawingml/2006/main">
  <p:cSld>
    <p:bg>
      <p:bgPr>
        <a:solidFill>
          <a:srgbClr val="F5F5F4"/>
        </a:solidFill>
      </p:bgPr>
    </p:bg>
    <p:spTree>
      <p:nvGrpSpPr>
        <p:cNvPr id="1" name=""/>
        <p:cNvGrpSpPr/>
        <p:nvPr/>
      </p:nvGrpSpPr>
      <p:grpSpPr>
        <a:xfrm>
          <a:off x="0" y="0"/>
          <a:ext cx="0" cy="0"/>
          <a:chOff x="0" y="0"/>
          <a:chExt cx="0" cy="0"/>
        </a:xfrm>
      </p:grpSpPr>
      <p:sp>
        <p:nvSpPr>
          <p:cNvPr name="TextBox 2" id="2"/>
          <p:cNvSpPr txBox="true"/>
          <p:nvPr/>
        </p:nvSpPr>
        <p:spPr>
          <a:xfrm rot="0">
            <a:off x="1028700" y="2095795"/>
            <a:ext cx="11293394" cy="1504950"/>
          </a:xfrm>
          <a:prstGeom prst="rect">
            <a:avLst/>
          </a:prstGeom>
        </p:spPr>
        <p:txBody>
          <a:bodyPr anchor="t" rtlCol="false" tIns="0" lIns="0" bIns="0" rIns="0">
            <a:spAutoFit/>
          </a:bodyPr>
          <a:lstStyle/>
          <a:p>
            <a:pPr algn="l">
              <a:lnSpc>
                <a:spcPts val="11999"/>
              </a:lnSpc>
            </a:pPr>
            <a:r>
              <a:rPr lang="en-US" b="true" sz="9999" i="true" spc="-489">
                <a:solidFill>
                  <a:srgbClr val="333333"/>
                </a:solidFill>
                <a:latin typeface="Noto Serif Display Semi-Bold Italics"/>
                <a:ea typeface="Noto Serif Display Semi-Bold Italics"/>
                <a:cs typeface="Noto Serif Display Semi-Bold Italics"/>
                <a:sym typeface="Noto Serif Display Semi-Bold Italics"/>
              </a:rPr>
              <a:t>Abstract</a:t>
            </a:r>
          </a:p>
        </p:txBody>
      </p:sp>
      <p:sp>
        <p:nvSpPr>
          <p:cNvPr name="TextBox 3" id="3"/>
          <p:cNvSpPr txBox="true"/>
          <p:nvPr/>
        </p:nvSpPr>
        <p:spPr>
          <a:xfrm rot="0">
            <a:off x="899275" y="4111759"/>
            <a:ext cx="16864673" cy="7315384"/>
          </a:xfrm>
          <a:prstGeom prst="rect">
            <a:avLst/>
          </a:prstGeom>
        </p:spPr>
        <p:txBody>
          <a:bodyPr anchor="t" rtlCol="false" tIns="0" lIns="0" bIns="0" rIns="0">
            <a:spAutoFit/>
          </a:bodyPr>
          <a:lstStyle/>
          <a:p>
            <a:pPr algn="ctr" marL="565175" indent="-282587" lvl="1">
              <a:lnSpc>
                <a:spcPts val="3664"/>
              </a:lnSpc>
              <a:buFont typeface="Arial"/>
              <a:buChar char="•"/>
            </a:pPr>
            <a:r>
              <a:rPr lang="en-US" b="true" sz="2617">
                <a:solidFill>
                  <a:srgbClr val="333333"/>
                </a:solidFill>
                <a:latin typeface="Public Sans Bold"/>
                <a:ea typeface="Public Sans Bold"/>
                <a:cs typeface="Public Sans Bold"/>
                <a:sym typeface="Public Sans Bold"/>
              </a:rPr>
              <a:t> </a:t>
            </a:r>
            <a:r>
              <a:rPr lang="en-US" sz="2617">
                <a:solidFill>
                  <a:srgbClr val="333333"/>
                </a:solidFill>
                <a:latin typeface="Public Sans"/>
                <a:ea typeface="Public Sans"/>
                <a:cs typeface="Public Sans"/>
                <a:sym typeface="Public Sans"/>
              </a:rPr>
              <a:t>The study tackles the University Timetabling Scheduling Problem (UTSP), a complex NP-hard challenge involving scheduling courses, instructors, students, rooms, and time slots while satisfying numerous hard and soft constraints.</a:t>
            </a:r>
          </a:p>
          <a:p>
            <a:pPr algn="ctr" marL="565175" indent="-282587" lvl="1">
              <a:lnSpc>
                <a:spcPts val="3664"/>
              </a:lnSpc>
              <a:buFont typeface="Arial"/>
              <a:buChar char="•"/>
            </a:pPr>
            <a:r>
              <a:rPr lang="en-US" sz="2617">
                <a:solidFill>
                  <a:srgbClr val="333333"/>
                </a:solidFill>
                <a:latin typeface="Public Sans"/>
                <a:ea typeface="Public Sans"/>
                <a:cs typeface="Public Sans"/>
                <a:sym typeface="Public Sans"/>
              </a:rPr>
              <a:t>The Pufferfish Optimization Algorithm (PFOA), a nature-inspired metaheuristic based on the defensive and foraging behavior of pufferfish, is adapted and applied to UTSP for the first time.</a:t>
            </a:r>
          </a:p>
          <a:p>
            <a:pPr algn="ctr" marL="565175" indent="-282587" lvl="1">
              <a:lnSpc>
                <a:spcPts val="3664"/>
              </a:lnSpc>
              <a:buFont typeface="Arial"/>
              <a:buChar char="•"/>
            </a:pPr>
            <a:r>
              <a:rPr lang="en-US" sz="2617">
                <a:solidFill>
                  <a:srgbClr val="333333"/>
                </a:solidFill>
                <a:latin typeface="Public Sans"/>
                <a:ea typeface="Public Sans"/>
                <a:cs typeface="Public Sans"/>
                <a:sym typeface="Public Sans"/>
              </a:rPr>
              <a:t>Experiments using real-world data demonstrated that PFOA can effectively produce conflict-free, optimized timetables. Remarkably, a valid solution with zero constraint violations was achieved in the first generation, with the algorithm maintaining optimality throughout.</a:t>
            </a:r>
          </a:p>
          <a:p>
            <a:pPr algn="ctr" marL="565175" indent="-282587" lvl="1">
              <a:lnSpc>
                <a:spcPts val="3664"/>
              </a:lnSpc>
              <a:buFont typeface="Arial"/>
              <a:buChar char="•"/>
            </a:pPr>
            <a:r>
              <a:rPr lang="en-US" sz="2617">
                <a:solidFill>
                  <a:srgbClr val="333333"/>
                </a:solidFill>
                <a:latin typeface="Public Sans"/>
                <a:ea typeface="Public Sans"/>
                <a:cs typeface="Public Sans"/>
                <a:sym typeface="Public Sans"/>
              </a:rPr>
              <a:t> The research shows that PFOA has strong potential for solving scheduling problems but suggests that further improvements and hybrid approaches could enhance its performance even more.</a:t>
            </a:r>
          </a:p>
          <a:p>
            <a:pPr algn="ctr">
              <a:lnSpc>
                <a:spcPts val="3664"/>
              </a:lnSpc>
            </a:pPr>
          </a:p>
          <a:p>
            <a:pPr algn="ctr">
              <a:lnSpc>
                <a:spcPts val="3664"/>
              </a:lnSpc>
            </a:pPr>
          </a:p>
          <a:p>
            <a:pPr algn="ctr">
              <a:lnSpc>
                <a:spcPts val="3664"/>
              </a:lnSpc>
            </a:pPr>
          </a:p>
          <a:p>
            <a:pPr algn="ctr">
              <a:lnSpc>
                <a:spcPts val="3664"/>
              </a:lnSpc>
            </a:pPr>
          </a:p>
          <a:p>
            <a:pPr algn="ctr">
              <a:lnSpc>
                <a:spcPts val="3664"/>
              </a:lnSpc>
            </a:pPr>
          </a:p>
          <a:p>
            <a:pPr algn="ctr">
              <a:lnSpc>
                <a:spcPts val="3664"/>
              </a:lnSpc>
            </a:pPr>
          </a:p>
        </p:txBody>
      </p:sp>
      <p:sp>
        <p:nvSpPr>
          <p:cNvPr name="AutoShape 4" id="4"/>
          <p:cNvSpPr/>
          <p:nvPr/>
        </p:nvSpPr>
        <p:spPr>
          <a:xfrm rot="0">
            <a:off x="1028700" y="1751768"/>
            <a:ext cx="16230600" cy="0"/>
          </a:xfrm>
          <a:prstGeom prst="line">
            <a:avLst/>
          </a:prstGeom>
          <a:ln cap="flat" w="28575">
            <a:solidFill>
              <a:srgbClr val="333333"/>
            </a:solidFill>
            <a:prstDash val="solid"/>
            <a:headEnd type="none" len="sm" w="sm"/>
            <a:tailEnd type="none" len="sm" w="sm"/>
          </a:ln>
        </p:spPr>
      </p:sp>
    </p:spTree>
  </p:cSld>
  <p:clrMapOvr>
    <a:masterClrMapping/>
  </p:clrMapOvr>
</p:sld>
</file>

<file path=ppt/slides/slide4.xml><?xml version="1.0" encoding="utf-8"?>
<p:sld xmlns:p="http://schemas.openxmlformats.org/presentationml/2006/main" xmlns:a="http://schemas.openxmlformats.org/drawingml/2006/main">
  <p:cSld>
    <p:bg>
      <p:bgPr>
        <a:solidFill>
          <a:srgbClr val="F5F5F4"/>
        </a:solidFill>
      </p:bgPr>
    </p:bg>
    <p:spTree>
      <p:nvGrpSpPr>
        <p:cNvPr id="1" name=""/>
        <p:cNvGrpSpPr/>
        <p:nvPr/>
      </p:nvGrpSpPr>
      <p:grpSpPr>
        <a:xfrm>
          <a:off x="0" y="0"/>
          <a:ext cx="0" cy="0"/>
          <a:chOff x="0" y="0"/>
          <a:chExt cx="0" cy="0"/>
        </a:xfrm>
      </p:grpSpPr>
      <p:sp>
        <p:nvSpPr>
          <p:cNvPr name="TextBox 2" id="2"/>
          <p:cNvSpPr txBox="true"/>
          <p:nvPr/>
        </p:nvSpPr>
        <p:spPr>
          <a:xfrm rot="0">
            <a:off x="1028700" y="1928465"/>
            <a:ext cx="11293394" cy="1504950"/>
          </a:xfrm>
          <a:prstGeom prst="rect">
            <a:avLst/>
          </a:prstGeom>
        </p:spPr>
        <p:txBody>
          <a:bodyPr anchor="t" rtlCol="false" tIns="0" lIns="0" bIns="0" rIns="0">
            <a:spAutoFit/>
          </a:bodyPr>
          <a:lstStyle/>
          <a:p>
            <a:pPr algn="l">
              <a:lnSpc>
                <a:spcPts val="11999"/>
              </a:lnSpc>
            </a:pPr>
            <a:r>
              <a:rPr lang="en-US" b="true" sz="9999" i="true" spc="-489">
                <a:solidFill>
                  <a:srgbClr val="333333"/>
                </a:solidFill>
                <a:latin typeface="Noto Serif Display Semi-Bold Italics"/>
                <a:ea typeface="Noto Serif Display Semi-Bold Italics"/>
                <a:cs typeface="Noto Serif Display Semi-Bold Italics"/>
                <a:sym typeface="Noto Serif Display Semi-Bold Italics"/>
              </a:rPr>
              <a:t>Objective 1</a:t>
            </a:r>
          </a:p>
        </p:txBody>
      </p:sp>
      <p:sp>
        <p:nvSpPr>
          <p:cNvPr name="TextBox 3" id="3"/>
          <p:cNvSpPr txBox="true"/>
          <p:nvPr/>
        </p:nvSpPr>
        <p:spPr>
          <a:xfrm rot="0">
            <a:off x="443691" y="3366740"/>
            <a:ext cx="17400619" cy="5729557"/>
          </a:xfrm>
          <a:prstGeom prst="rect">
            <a:avLst/>
          </a:prstGeom>
        </p:spPr>
        <p:txBody>
          <a:bodyPr anchor="t" rtlCol="false" tIns="0" lIns="0" bIns="0" rIns="0">
            <a:spAutoFit/>
          </a:bodyPr>
          <a:lstStyle/>
          <a:p>
            <a:pPr algn="ctr">
              <a:lnSpc>
                <a:spcPts val="4167"/>
              </a:lnSpc>
            </a:pPr>
          </a:p>
          <a:p>
            <a:pPr algn="ctr">
              <a:lnSpc>
                <a:spcPts val="4167"/>
              </a:lnSpc>
            </a:pPr>
            <a:r>
              <a:rPr lang="en-US" sz="2976">
                <a:solidFill>
                  <a:srgbClr val="333333"/>
                </a:solidFill>
                <a:latin typeface="Public Sans"/>
                <a:ea typeface="Public Sans"/>
                <a:cs typeface="Public Sans"/>
                <a:sym typeface="Public Sans"/>
              </a:rPr>
              <a:t>The main objective of this research is to apply the Pufferfish Optimization Algorithm (PFOA) to solve the University Timetable Scheduling Problem (UTSP), which is a common yet challenging issue faced by educational institutions. Creating a timetable that avoids conflicts between instructors, students, classrooms, and time slots is not easy, especially when there are many constraints to consider.</a:t>
            </a:r>
          </a:p>
          <a:p>
            <a:pPr algn="ctr">
              <a:lnSpc>
                <a:spcPts val="4167"/>
              </a:lnSpc>
            </a:pPr>
            <a:r>
              <a:rPr lang="en-US" sz="2976">
                <a:solidFill>
                  <a:srgbClr val="333333"/>
                </a:solidFill>
                <a:latin typeface="Public Sans"/>
                <a:ea typeface="Public Sans"/>
                <a:cs typeface="Public Sans"/>
                <a:sym typeface="Public Sans"/>
              </a:rPr>
              <a:t>This study aims to use PFOA, a nature-inspired metaheuristic based on the behavior of pufferfish, to help find better and more organized timetables. The algorithm mimics how pufferfish explore their surroundings and avoid danger, which in this case helps in exploring different scheduling options and improving them over time.</a:t>
            </a:r>
          </a:p>
          <a:p>
            <a:pPr algn="ctr">
              <a:lnSpc>
                <a:spcPts val="4167"/>
              </a:lnSpc>
            </a:pPr>
          </a:p>
        </p:txBody>
      </p:sp>
      <p:sp>
        <p:nvSpPr>
          <p:cNvPr name="AutoShape 4" id="4"/>
          <p:cNvSpPr/>
          <p:nvPr/>
        </p:nvSpPr>
        <p:spPr>
          <a:xfrm rot="0">
            <a:off x="1028700" y="1751768"/>
            <a:ext cx="16230600" cy="0"/>
          </a:xfrm>
          <a:prstGeom prst="line">
            <a:avLst/>
          </a:prstGeom>
          <a:ln cap="flat" w="28575">
            <a:solidFill>
              <a:srgbClr val="333333"/>
            </a:solidFill>
            <a:prstDash val="solid"/>
            <a:headEnd type="none" len="sm" w="sm"/>
            <a:tailEnd type="none" len="sm" w="sm"/>
          </a:ln>
        </p:spPr>
      </p:sp>
    </p:spTree>
  </p:cSld>
  <p:clrMapOvr>
    <a:masterClrMapping/>
  </p:clrMapOvr>
</p:sld>
</file>

<file path=ppt/slides/slide5.xml><?xml version="1.0" encoding="utf-8"?>
<p:sld xmlns:p="http://schemas.openxmlformats.org/presentationml/2006/main" xmlns:a="http://schemas.openxmlformats.org/drawingml/2006/main">
  <p:cSld>
    <p:bg>
      <p:bgPr>
        <a:solidFill>
          <a:srgbClr val="F5F5F4"/>
        </a:solidFill>
      </p:bgPr>
    </p:bg>
    <p:spTree>
      <p:nvGrpSpPr>
        <p:cNvPr id="1" name=""/>
        <p:cNvGrpSpPr/>
        <p:nvPr/>
      </p:nvGrpSpPr>
      <p:grpSpPr>
        <a:xfrm>
          <a:off x="0" y="0"/>
          <a:ext cx="0" cy="0"/>
          <a:chOff x="0" y="0"/>
          <a:chExt cx="0" cy="0"/>
        </a:xfrm>
      </p:grpSpPr>
      <p:sp>
        <p:nvSpPr>
          <p:cNvPr name="TextBox 2" id="2"/>
          <p:cNvSpPr txBox="true"/>
          <p:nvPr/>
        </p:nvSpPr>
        <p:spPr>
          <a:xfrm rot="0">
            <a:off x="1028700" y="1928465"/>
            <a:ext cx="11293394" cy="1504950"/>
          </a:xfrm>
          <a:prstGeom prst="rect">
            <a:avLst/>
          </a:prstGeom>
        </p:spPr>
        <p:txBody>
          <a:bodyPr anchor="t" rtlCol="false" tIns="0" lIns="0" bIns="0" rIns="0">
            <a:spAutoFit/>
          </a:bodyPr>
          <a:lstStyle/>
          <a:p>
            <a:pPr algn="l">
              <a:lnSpc>
                <a:spcPts val="11999"/>
              </a:lnSpc>
            </a:pPr>
            <a:r>
              <a:rPr lang="en-US" b="true" sz="9999" i="true" spc="-489">
                <a:solidFill>
                  <a:srgbClr val="333333"/>
                </a:solidFill>
                <a:latin typeface="Noto Serif Display Semi-Bold Italics"/>
                <a:ea typeface="Noto Serif Display Semi-Bold Italics"/>
                <a:cs typeface="Noto Serif Display Semi-Bold Italics"/>
                <a:sym typeface="Noto Serif Display Semi-Bold Italics"/>
              </a:rPr>
              <a:t>Objective 2</a:t>
            </a:r>
          </a:p>
        </p:txBody>
      </p:sp>
      <p:sp>
        <p:nvSpPr>
          <p:cNvPr name="TextBox 3" id="3"/>
          <p:cNvSpPr txBox="true"/>
          <p:nvPr/>
        </p:nvSpPr>
        <p:spPr>
          <a:xfrm rot="0">
            <a:off x="437248" y="3720210"/>
            <a:ext cx="17670699" cy="5729557"/>
          </a:xfrm>
          <a:prstGeom prst="rect">
            <a:avLst/>
          </a:prstGeom>
        </p:spPr>
        <p:txBody>
          <a:bodyPr anchor="t" rtlCol="false" tIns="0" lIns="0" bIns="0" rIns="0">
            <a:spAutoFit/>
          </a:bodyPr>
          <a:lstStyle/>
          <a:p>
            <a:pPr algn="ctr">
              <a:lnSpc>
                <a:spcPts val="4167"/>
              </a:lnSpc>
            </a:pPr>
            <a:r>
              <a:rPr lang="en-US" sz="2976">
                <a:solidFill>
                  <a:srgbClr val="333333"/>
                </a:solidFill>
                <a:latin typeface="Public Sans"/>
                <a:ea typeface="Public Sans"/>
                <a:cs typeface="Public Sans"/>
                <a:sym typeface="Public Sans"/>
              </a:rPr>
              <a:t>Another goal of the research is to reduce the number of hard constraint violations (like two classes in the same room at the same time) and soft constraint violations (like an instructor’s preferred teaching time). The algorithm is designed to balance between trying new solutions and improving existing ones.</a:t>
            </a:r>
          </a:p>
          <a:p>
            <a:pPr algn="ctr">
              <a:lnSpc>
                <a:spcPts val="4167"/>
              </a:lnSpc>
            </a:pPr>
            <a:r>
              <a:rPr lang="en-US" sz="2976">
                <a:solidFill>
                  <a:srgbClr val="333333"/>
                </a:solidFill>
                <a:latin typeface="Public Sans"/>
                <a:ea typeface="Public Sans"/>
                <a:cs typeface="Public Sans"/>
                <a:sym typeface="Public Sans"/>
              </a:rPr>
              <a:t>This research also compares the performance of PFOA with other popular algorithms used in scheduling, such as Genetic Algorithms and Particle Swarm Optimization. By doing this, we can see if PFOA performs better or gives similar results in terms of speed and accuracy.</a:t>
            </a:r>
          </a:p>
          <a:p>
            <a:pPr algn="ctr">
              <a:lnSpc>
                <a:spcPts val="4167"/>
              </a:lnSpc>
            </a:pPr>
            <a:r>
              <a:rPr lang="en-US" sz="2976">
                <a:solidFill>
                  <a:srgbClr val="333333"/>
                </a:solidFill>
                <a:latin typeface="Public Sans"/>
                <a:ea typeface="Public Sans"/>
                <a:cs typeface="Public Sans"/>
                <a:sym typeface="Public Sans"/>
              </a:rPr>
              <a:t>Lastly, the study aims to demonstrate how a bio-inspired algorithm like PFOA, which hasn't been widely used for this problem yet, can actually be a strong and flexible tool for solving real-world scheduling problems in universities.</a:t>
            </a:r>
          </a:p>
          <a:p>
            <a:pPr algn="ctr">
              <a:lnSpc>
                <a:spcPts val="4167"/>
              </a:lnSpc>
            </a:pPr>
          </a:p>
        </p:txBody>
      </p:sp>
      <p:sp>
        <p:nvSpPr>
          <p:cNvPr name="AutoShape 4" id="4"/>
          <p:cNvSpPr/>
          <p:nvPr/>
        </p:nvSpPr>
        <p:spPr>
          <a:xfrm rot="0">
            <a:off x="1028700" y="1751768"/>
            <a:ext cx="16230600" cy="0"/>
          </a:xfrm>
          <a:prstGeom prst="line">
            <a:avLst/>
          </a:prstGeom>
          <a:ln cap="flat" w="28575">
            <a:solidFill>
              <a:srgbClr val="333333"/>
            </a:solidFill>
            <a:prstDash val="solid"/>
            <a:headEnd type="none" len="sm" w="sm"/>
            <a:tailEnd type="none" len="sm" w="sm"/>
          </a:ln>
        </p:spPr>
      </p:sp>
    </p:spTree>
  </p:cSld>
  <p:clrMapOvr>
    <a:masterClrMapping/>
  </p:clrMapOvr>
</p:sld>
</file>

<file path=ppt/slides/slide6.xml><?xml version="1.0" encoding="utf-8"?>
<p:sld xmlns:p="http://schemas.openxmlformats.org/presentationml/2006/main" xmlns:a="http://schemas.openxmlformats.org/drawingml/2006/main">
  <p:cSld>
    <p:bg>
      <p:bgPr>
        <a:solidFill>
          <a:srgbClr val="F5F5F4"/>
        </a:solidFill>
      </p:bgPr>
    </p:bg>
    <p:spTree>
      <p:nvGrpSpPr>
        <p:cNvPr id="1" name=""/>
        <p:cNvGrpSpPr/>
        <p:nvPr/>
      </p:nvGrpSpPr>
      <p:grpSpPr>
        <a:xfrm>
          <a:off x="0" y="0"/>
          <a:ext cx="0" cy="0"/>
          <a:chOff x="0" y="0"/>
          <a:chExt cx="0" cy="0"/>
        </a:xfrm>
      </p:grpSpPr>
      <p:sp>
        <p:nvSpPr>
          <p:cNvPr name="TextBox 2" id="2"/>
          <p:cNvSpPr txBox="true"/>
          <p:nvPr/>
        </p:nvSpPr>
        <p:spPr>
          <a:xfrm rot="0">
            <a:off x="1559272" y="2118480"/>
            <a:ext cx="11293394" cy="1504950"/>
          </a:xfrm>
          <a:prstGeom prst="rect">
            <a:avLst/>
          </a:prstGeom>
        </p:spPr>
        <p:txBody>
          <a:bodyPr anchor="t" rtlCol="false" tIns="0" lIns="0" bIns="0" rIns="0">
            <a:spAutoFit/>
          </a:bodyPr>
          <a:lstStyle/>
          <a:p>
            <a:pPr algn="l">
              <a:lnSpc>
                <a:spcPts val="11999"/>
              </a:lnSpc>
            </a:pPr>
            <a:r>
              <a:rPr lang="en-US" b="true" sz="9999" i="true" spc="-489">
                <a:solidFill>
                  <a:srgbClr val="333333"/>
                </a:solidFill>
                <a:latin typeface="Noto Serif Display Semi-Bold Italics"/>
                <a:ea typeface="Noto Serif Display Semi-Bold Italics"/>
                <a:cs typeface="Noto Serif Display Semi-Bold Italics"/>
                <a:sym typeface="Noto Serif Display Semi-Bold Italics"/>
              </a:rPr>
              <a:t>Aim </a:t>
            </a:r>
          </a:p>
        </p:txBody>
      </p:sp>
      <p:sp>
        <p:nvSpPr>
          <p:cNvPr name="TextBox 3" id="3"/>
          <p:cNvSpPr txBox="true"/>
          <p:nvPr/>
        </p:nvSpPr>
        <p:spPr>
          <a:xfrm rot="0">
            <a:off x="1028700" y="4292525"/>
            <a:ext cx="16287011" cy="4965775"/>
          </a:xfrm>
          <a:prstGeom prst="rect">
            <a:avLst/>
          </a:prstGeom>
        </p:spPr>
        <p:txBody>
          <a:bodyPr anchor="t" rtlCol="false" tIns="0" lIns="0" bIns="0" rIns="0">
            <a:spAutoFit/>
          </a:bodyPr>
          <a:lstStyle/>
          <a:p>
            <a:pPr algn="ctr">
              <a:lnSpc>
                <a:spcPts val="3971"/>
              </a:lnSpc>
            </a:pPr>
            <a:r>
              <a:rPr lang="en-US" sz="2836">
                <a:solidFill>
                  <a:srgbClr val="333333"/>
                </a:solidFill>
                <a:latin typeface="Public Sans"/>
                <a:ea typeface="Public Sans"/>
                <a:cs typeface="Public Sans"/>
                <a:sym typeface="Public Sans"/>
              </a:rPr>
              <a:t>In this research, We aim to explore how the Pufferfish Optimization Algorithm (PFOA) can be used to solve the University Timetable Scheduling Problem (UTSP). The main goal is to create timetables that are both practical and conflict-free, making sure that lectures, instructors, rooms, and students are scheduled efficiently without overlaps or issues.</a:t>
            </a:r>
          </a:p>
          <a:p>
            <a:pPr algn="ctr">
              <a:lnSpc>
                <a:spcPts val="3971"/>
              </a:lnSpc>
            </a:pPr>
            <a:r>
              <a:rPr lang="en-US" sz="2836">
                <a:solidFill>
                  <a:srgbClr val="333333"/>
                </a:solidFill>
                <a:latin typeface="Public Sans"/>
                <a:ea typeface="Public Sans"/>
                <a:cs typeface="Public Sans"/>
                <a:sym typeface="Public Sans"/>
              </a:rPr>
              <a:t>We also want to see how well PFOA performs compared to other algorithms that are already used for similar problems, and whether its unique behavior based on how pufferfish act in nature can help in finding better solutions. This includes how it balances exploring new options and improving existing ones, which might make it a strong candidate for handling complex scheduling tasks.</a:t>
            </a:r>
          </a:p>
          <a:p>
            <a:pPr algn="ctr">
              <a:lnSpc>
                <a:spcPts val="3971"/>
              </a:lnSpc>
            </a:pPr>
          </a:p>
        </p:txBody>
      </p:sp>
      <p:sp>
        <p:nvSpPr>
          <p:cNvPr name="AutoShape 4" id="4"/>
          <p:cNvSpPr/>
          <p:nvPr/>
        </p:nvSpPr>
        <p:spPr>
          <a:xfrm rot="0">
            <a:off x="1028700" y="1751768"/>
            <a:ext cx="16230600" cy="0"/>
          </a:xfrm>
          <a:prstGeom prst="line">
            <a:avLst/>
          </a:prstGeom>
          <a:ln cap="flat" w="28575">
            <a:solidFill>
              <a:srgbClr val="333333"/>
            </a:solidFill>
            <a:prstDash val="solid"/>
            <a:headEnd type="none" len="sm" w="sm"/>
            <a:tailEnd type="none" len="sm" w="sm"/>
          </a:ln>
        </p:spPr>
      </p:sp>
    </p:spTree>
  </p:cSld>
  <p:clrMapOvr>
    <a:masterClrMapping/>
  </p:clrMapOvr>
</p:sld>
</file>

<file path=ppt/slides/slide7.xml><?xml version="1.0" encoding="utf-8"?>
<p:sld xmlns:p="http://schemas.openxmlformats.org/presentationml/2006/main" xmlns:a="http://schemas.openxmlformats.org/drawingml/2006/main">
  <p:cSld>
    <p:bg>
      <p:bgPr>
        <a:solidFill>
          <a:srgbClr val="F5F5F4"/>
        </a:solidFill>
      </p:bgPr>
    </p:bg>
    <p:spTree>
      <p:nvGrpSpPr>
        <p:cNvPr id="1" name=""/>
        <p:cNvGrpSpPr/>
        <p:nvPr/>
      </p:nvGrpSpPr>
      <p:grpSpPr>
        <a:xfrm>
          <a:off x="0" y="0"/>
          <a:ext cx="0" cy="0"/>
          <a:chOff x="0" y="0"/>
          <a:chExt cx="0" cy="0"/>
        </a:xfrm>
      </p:grpSpPr>
      <p:sp>
        <p:nvSpPr>
          <p:cNvPr name="TextBox 2" id="2"/>
          <p:cNvSpPr txBox="true"/>
          <p:nvPr/>
        </p:nvSpPr>
        <p:spPr>
          <a:xfrm rot="0">
            <a:off x="1141526" y="2108955"/>
            <a:ext cx="12558222" cy="1389828"/>
          </a:xfrm>
          <a:prstGeom prst="rect">
            <a:avLst/>
          </a:prstGeom>
        </p:spPr>
        <p:txBody>
          <a:bodyPr anchor="t" rtlCol="false" tIns="0" lIns="0" bIns="0" rIns="0">
            <a:spAutoFit/>
          </a:bodyPr>
          <a:lstStyle/>
          <a:p>
            <a:pPr algn="l">
              <a:lnSpc>
                <a:spcPts val="11012"/>
              </a:lnSpc>
            </a:pPr>
            <a:r>
              <a:rPr lang="en-US" b="true" sz="9176" i="true" spc="-449">
                <a:solidFill>
                  <a:srgbClr val="333333"/>
                </a:solidFill>
                <a:latin typeface="Noto Serif Display Semi-Bold Italics"/>
                <a:ea typeface="Noto Serif Display Semi-Bold Italics"/>
                <a:cs typeface="Noto Serif Display Semi-Bold Italics"/>
                <a:sym typeface="Noto Serif Display Semi-Bold Italics"/>
              </a:rPr>
              <a:t>Problem Formulation </a:t>
            </a:r>
          </a:p>
        </p:txBody>
      </p:sp>
      <p:sp>
        <p:nvSpPr>
          <p:cNvPr name="AutoShape 3" id="3"/>
          <p:cNvSpPr/>
          <p:nvPr/>
        </p:nvSpPr>
        <p:spPr>
          <a:xfrm rot="0">
            <a:off x="1028700" y="1751768"/>
            <a:ext cx="16230600" cy="0"/>
          </a:xfrm>
          <a:prstGeom prst="line">
            <a:avLst/>
          </a:prstGeom>
          <a:ln cap="flat" w="28575">
            <a:solidFill>
              <a:srgbClr val="333333"/>
            </a:solidFill>
            <a:prstDash val="solid"/>
            <a:headEnd type="none" len="sm" w="sm"/>
            <a:tailEnd type="none" len="sm" w="sm"/>
          </a:ln>
        </p:spPr>
      </p:sp>
      <p:sp>
        <p:nvSpPr>
          <p:cNvPr name="TextBox 4" id="4"/>
          <p:cNvSpPr txBox="true"/>
          <p:nvPr/>
        </p:nvSpPr>
        <p:spPr>
          <a:xfrm rot="0">
            <a:off x="743441" y="4054003"/>
            <a:ext cx="16801118" cy="4537928"/>
          </a:xfrm>
          <a:prstGeom prst="rect">
            <a:avLst/>
          </a:prstGeom>
        </p:spPr>
        <p:txBody>
          <a:bodyPr anchor="t" rtlCol="false" tIns="0" lIns="0" bIns="0" rIns="0">
            <a:spAutoFit/>
          </a:bodyPr>
          <a:lstStyle/>
          <a:p>
            <a:pPr algn="ctr">
              <a:lnSpc>
                <a:spcPts val="4537"/>
              </a:lnSpc>
            </a:pPr>
            <a:r>
              <a:rPr lang="en-US" sz="3240">
                <a:solidFill>
                  <a:srgbClr val="333333"/>
                </a:solidFill>
                <a:latin typeface="Public Sans"/>
                <a:ea typeface="Public Sans"/>
                <a:cs typeface="Public Sans"/>
                <a:sym typeface="Public Sans"/>
              </a:rPr>
              <a:t>The University Timetable Scheduling Problem (UTSP) is a complex optimization task.</a:t>
            </a:r>
          </a:p>
          <a:p>
            <a:pPr algn="ctr">
              <a:lnSpc>
                <a:spcPts val="4537"/>
              </a:lnSpc>
            </a:pPr>
            <a:r>
              <a:rPr lang="en-US" sz="3240">
                <a:solidFill>
                  <a:srgbClr val="333333"/>
                </a:solidFill>
                <a:latin typeface="Public Sans"/>
                <a:ea typeface="Public Sans"/>
                <a:cs typeface="Public Sans"/>
                <a:sym typeface="Public Sans"/>
              </a:rPr>
              <a:t> Goal: Assign a set of lectures to valid timeslots and classrooms while avoiding conflicts.</a:t>
            </a:r>
          </a:p>
          <a:p>
            <a:pPr algn="ctr">
              <a:lnSpc>
                <a:spcPts val="4537"/>
              </a:lnSpc>
            </a:pPr>
            <a:r>
              <a:rPr lang="en-US" sz="3240">
                <a:solidFill>
                  <a:srgbClr val="333333"/>
                </a:solidFill>
                <a:latin typeface="Public Sans"/>
                <a:ea typeface="Public Sans"/>
                <a:cs typeface="Public Sans"/>
                <a:sym typeface="Public Sans"/>
              </a:rPr>
              <a:t>The problem considers both:</a:t>
            </a:r>
          </a:p>
          <a:p>
            <a:pPr algn="ctr">
              <a:lnSpc>
                <a:spcPts val="4537"/>
              </a:lnSpc>
            </a:pPr>
            <a:r>
              <a:rPr lang="en-US" sz="3240">
                <a:solidFill>
                  <a:srgbClr val="333333"/>
                </a:solidFill>
                <a:latin typeface="Public Sans"/>
                <a:ea typeface="Public Sans"/>
                <a:cs typeface="Public Sans"/>
                <a:sym typeface="Public Sans"/>
              </a:rPr>
              <a:t> - Hard constraints (must be strictly satisfied).</a:t>
            </a:r>
          </a:p>
          <a:p>
            <a:pPr algn="ctr">
              <a:lnSpc>
                <a:spcPts val="4537"/>
              </a:lnSpc>
            </a:pPr>
            <a:r>
              <a:rPr lang="en-US" sz="3240">
                <a:solidFill>
                  <a:srgbClr val="333333"/>
                </a:solidFill>
                <a:latin typeface="Public Sans"/>
                <a:ea typeface="Public Sans"/>
                <a:cs typeface="Public Sans"/>
                <a:sym typeface="Public Sans"/>
              </a:rPr>
              <a:t>- Soft constraints (desirable preferences).</a:t>
            </a:r>
          </a:p>
          <a:p>
            <a:pPr algn="ctr">
              <a:lnSpc>
                <a:spcPts val="4537"/>
              </a:lnSpc>
            </a:pPr>
            <a:r>
              <a:rPr lang="en-US" sz="3240">
                <a:solidFill>
                  <a:srgbClr val="333333"/>
                </a:solidFill>
                <a:latin typeface="Public Sans"/>
                <a:ea typeface="Public Sans"/>
                <a:cs typeface="Public Sans"/>
                <a:sym typeface="Public Sans"/>
              </a:rPr>
              <a:t>PFOA is used to generate valid, efficient timetables that respect these constraints.</a:t>
            </a:r>
          </a:p>
          <a:p>
            <a:pPr algn="ctr">
              <a:lnSpc>
                <a:spcPts val="4537"/>
              </a:lnSpc>
            </a:pP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0">
            <a:off x="1028700" y="1751768"/>
            <a:ext cx="16230600" cy="0"/>
          </a:xfrm>
          <a:prstGeom prst="line">
            <a:avLst/>
          </a:prstGeom>
          <a:ln cap="flat" w="28575">
            <a:solidFill>
              <a:srgbClr val="333333"/>
            </a:solidFill>
            <a:prstDash val="solid"/>
            <a:headEnd type="none" len="sm" w="sm"/>
            <a:tailEnd type="none" len="sm" w="sm"/>
          </a:ln>
        </p:spPr>
      </p:sp>
      <p:sp>
        <p:nvSpPr>
          <p:cNvPr name="TextBox 3" id="3"/>
          <p:cNvSpPr txBox="true"/>
          <p:nvPr/>
        </p:nvSpPr>
        <p:spPr>
          <a:xfrm rot="0">
            <a:off x="-144650" y="1977842"/>
            <a:ext cx="14965512" cy="1285875"/>
          </a:xfrm>
          <a:prstGeom prst="rect">
            <a:avLst/>
          </a:prstGeom>
        </p:spPr>
        <p:txBody>
          <a:bodyPr anchor="t" rtlCol="false" tIns="0" lIns="0" bIns="0" rIns="0">
            <a:spAutoFit/>
          </a:bodyPr>
          <a:lstStyle/>
          <a:p>
            <a:pPr algn="ctr">
              <a:lnSpc>
                <a:spcPts val="10199"/>
              </a:lnSpc>
            </a:pPr>
            <a:r>
              <a:rPr lang="en-US" b="true" sz="8499" i="true" spc="-416">
                <a:solidFill>
                  <a:srgbClr val="333333"/>
                </a:solidFill>
                <a:latin typeface="Noto Serif Display Semi-Bold Italics"/>
                <a:ea typeface="Noto Serif Display Semi-Bold Italics"/>
                <a:cs typeface="Noto Serif Display Semi-Bold Italics"/>
                <a:sym typeface="Noto Serif Display Semi-Bold Italics"/>
              </a:rPr>
              <a:t>The Developed Algorithim 1</a:t>
            </a:r>
          </a:p>
        </p:txBody>
      </p:sp>
      <p:sp>
        <p:nvSpPr>
          <p:cNvPr name="TextBox 4" id="4"/>
          <p:cNvSpPr txBox="true"/>
          <p:nvPr/>
        </p:nvSpPr>
        <p:spPr>
          <a:xfrm rot="0">
            <a:off x="-2541289" y="2145847"/>
            <a:ext cx="21005426" cy="2000250"/>
          </a:xfrm>
          <a:prstGeom prst="rect">
            <a:avLst/>
          </a:prstGeom>
        </p:spPr>
        <p:txBody>
          <a:bodyPr anchor="t" rtlCol="false" tIns="0" lIns="0" bIns="0" rIns="0">
            <a:spAutoFit/>
          </a:bodyPr>
          <a:lstStyle/>
          <a:p>
            <a:pPr algn="ctr">
              <a:lnSpc>
                <a:spcPts val="10199"/>
              </a:lnSpc>
            </a:pPr>
          </a:p>
          <a:p>
            <a:pPr algn="ctr">
              <a:lnSpc>
                <a:spcPts val="5640"/>
              </a:lnSpc>
            </a:pPr>
            <a:r>
              <a:rPr lang="en-US" sz="4700" spc="-230">
                <a:solidFill>
                  <a:srgbClr val="333333"/>
                </a:solidFill>
                <a:latin typeface="Noto Serif Display"/>
                <a:ea typeface="Noto Serif Display"/>
                <a:cs typeface="Noto Serif Display"/>
                <a:sym typeface="Noto Serif Display"/>
              </a:rPr>
              <a:t> W</a:t>
            </a:r>
            <a:r>
              <a:rPr lang="en-US" sz="4700" spc="-230">
                <a:solidFill>
                  <a:srgbClr val="333333"/>
                </a:solidFill>
                <a:latin typeface="Noto Serif Display"/>
                <a:ea typeface="Noto Serif Display"/>
                <a:cs typeface="Noto Serif Display"/>
                <a:sym typeface="Noto Serif Display"/>
              </a:rPr>
              <a:t>hy We Chose Pufferfish Optimization Algorithm (PFOA)?</a:t>
            </a:r>
          </a:p>
        </p:txBody>
      </p:sp>
      <p:sp>
        <p:nvSpPr>
          <p:cNvPr name="TextBox 5" id="5"/>
          <p:cNvSpPr txBox="true"/>
          <p:nvPr/>
        </p:nvSpPr>
        <p:spPr>
          <a:xfrm rot="0">
            <a:off x="1181100" y="4444925"/>
            <a:ext cx="15973701" cy="4947629"/>
          </a:xfrm>
          <a:prstGeom prst="rect">
            <a:avLst/>
          </a:prstGeom>
        </p:spPr>
        <p:txBody>
          <a:bodyPr anchor="t" rtlCol="false" tIns="0" lIns="0" bIns="0" rIns="0">
            <a:spAutoFit/>
          </a:bodyPr>
          <a:lstStyle/>
          <a:p>
            <a:pPr algn="l">
              <a:lnSpc>
                <a:spcPts val="3971"/>
              </a:lnSpc>
            </a:pPr>
            <a:r>
              <a:rPr lang="en-US" sz="2836">
                <a:solidFill>
                  <a:srgbClr val="333333"/>
                </a:solidFill>
                <a:latin typeface="Public Sans"/>
                <a:ea typeface="Public Sans"/>
                <a:cs typeface="Public Sans"/>
                <a:sym typeface="Public Sans"/>
              </a:rPr>
              <a:t>We chose PFOA because it is a nature-inspired metaheuristic that balances exploration and exploitation very effectively. It mimics the behavior of pufferfish when they:</a:t>
            </a:r>
          </a:p>
          <a:p>
            <a:pPr algn="l" marL="612387" indent="-306194" lvl="1">
              <a:lnSpc>
                <a:spcPts val="3971"/>
              </a:lnSpc>
              <a:buFont typeface="Arial"/>
              <a:buChar char="•"/>
            </a:pPr>
            <a:r>
              <a:rPr lang="en-US" sz="2836">
                <a:solidFill>
                  <a:srgbClr val="333333"/>
                </a:solidFill>
                <a:latin typeface="Public Sans"/>
                <a:ea typeface="Public Sans"/>
                <a:cs typeface="Public Sans"/>
                <a:sym typeface="Public Sans"/>
              </a:rPr>
              <a:t>Inflate themselves for defense → (Exploration: large jumps in the solution space).</a:t>
            </a:r>
          </a:p>
          <a:p>
            <a:pPr algn="l" marL="612387" indent="-306194" lvl="1">
              <a:lnSpc>
                <a:spcPts val="3971"/>
              </a:lnSpc>
              <a:buFont typeface="Arial"/>
              <a:buChar char="•"/>
            </a:pPr>
            <a:r>
              <a:rPr lang="en-US" sz="2836">
                <a:solidFill>
                  <a:srgbClr val="333333"/>
                </a:solidFill>
                <a:latin typeface="Public Sans"/>
                <a:ea typeface="Public Sans"/>
                <a:cs typeface="Public Sans"/>
                <a:sym typeface="Public Sans"/>
              </a:rPr>
              <a:t>Search for food and follow others → (Exploitation: refining good solutions).</a:t>
            </a:r>
          </a:p>
          <a:p>
            <a:pPr algn="l">
              <a:lnSpc>
                <a:spcPts val="3971"/>
              </a:lnSpc>
            </a:pPr>
            <a:r>
              <a:rPr lang="en-US" sz="2836">
                <a:solidFill>
                  <a:srgbClr val="333333"/>
                </a:solidFill>
                <a:latin typeface="Public Sans"/>
                <a:ea typeface="Public Sans"/>
                <a:cs typeface="Public Sans"/>
                <a:sym typeface="Public Sans"/>
              </a:rPr>
              <a:t>Compared to traditional algorithms like Genetic Algorithms (GA) or Particle Swarm Optimization (PSO), PFOA is:</a:t>
            </a:r>
          </a:p>
          <a:p>
            <a:pPr algn="l" marL="612387" indent="-306194" lvl="1">
              <a:lnSpc>
                <a:spcPts val="3971"/>
              </a:lnSpc>
              <a:buFont typeface="Arial"/>
              <a:buChar char="•"/>
            </a:pPr>
            <a:r>
              <a:rPr lang="en-US" sz="2836">
                <a:solidFill>
                  <a:srgbClr val="333333"/>
                </a:solidFill>
                <a:latin typeface="Public Sans"/>
                <a:ea typeface="Public Sans"/>
                <a:cs typeface="Public Sans"/>
                <a:sym typeface="Public Sans"/>
              </a:rPr>
              <a:t>Less explored in the context of timetabling → our research is novel.</a:t>
            </a:r>
          </a:p>
          <a:p>
            <a:pPr algn="l" marL="612387" indent="-306194" lvl="1">
              <a:lnSpc>
                <a:spcPts val="3971"/>
              </a:lnSpc>
              <a:buFont typeface="Arial"/>
              <a:buChar char="•"/>
            </a:pPr>
            <a:r>
              <a:rPr lang="en-US" sz="2836">
                <a:solidFill>
                  <a:srgbClr val="333333"/>
                </a:solidFill>
                <a:latin typeface="Public Sans"/>
                <a:ea typeface="Public Sans"/>
                <a:cs typeface="Public Sans"/>
                <a:sym typeface="Public Sans"/>
              </a:rPr>
              <a:t>Lightweight and fast in terms of computation.</a:t>
            </a:r>
          </a:p>
          <a:p>
            <a:pPr algn="l" marL="612387" indent="-306194" lvl="1">
              <a:lnSpc>
                <a:spcPts val="3971"/>
              </a:lnSpc>
              <a:buFont typeface="Arial"/>
              <a:buChar char="•"/>
            </a:pPr>
            <a:r>
              <a:rPr lang="en-US" sz="2836">
                <a:solidFill>
                  <a:srgbClr val="333333"/>
                </a:solidFill>
                <a:latin typeface="Public Sans"/>
                <a:ea typeface="Public Sans"/>
                <a:cs typeface="Public Sans"/>
                <a:sym typeface="Public Sans"/>
              </a:rPr>
              <a:t>Capable of reaching optimal results quickly and maintaining them across generations</a:t>
            </a:r>
          </a:p>
          <a:p>
            <a:pPr algn="l">
              <a:lnSpc>
                <a:spcPts val="3971"/>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0">
            <a:off x="1028700" y="1751768"/>
            <a:ext cx="16230600" cy="0"/>
          </a:xfrm>
          <a:prstGeom prst="line">
            <a:avLst/>
          </a:prstGeom>
          <a:ln cap="flat" w="28575">
            <a:solidFill>
              <a:srgbClr val="333333"/>
            </a:solidFill>
            <a:prstDash val="solid"/>
            <a:headEnd type="none" len="sm" w="sm"/>
            <a:tailEnd type="none" len="sm" w="sm"/>
          </a:ln>
        </p:spPr>
      </p:sp>
      <p:sp>
        <p:nvSpPr>
          <p:cNvPr name="TextBox 3" id="3"/>
          <p:cNvSpPr txBox="true"/>
          <p:nvPr/>
        </p:nvSpPr>
        <p:spPr>
          <a:xfrm rot="0">
            <a:off x="763416" y="3531927"/>
            <a:ext cx="12599859" cy="5979777"/>
          </a:xfrm>
          <a:prstGeom prst="rect">
            <a:avLst/>
          </a:prstGeom>
        </p:spPr>
        <p:txBody>
          <a:bodyPr anchor="t" rtlCol="false" tIns="0" lIns="0" bIns="0" rIns="0">
            <a:spAutoFit/>
          </a:bodyPr>
          <a:lstStyle/>
          <a:p>
            <a:pPr algn="l">
              <a:lnSpc>
                <a:spcPts val="3427"/>
              </a:lnSpc>
            </a:pPr>
            <a:r>
              <a:rPr lang="en-US" sz="2448" b="true">
                <a:solidFill>
                  <a:srgbClr val="333333"/>
                </a:solidFill>
                <a:latin typeface="Public Sans Bold"/>
                <a:ea typeface="Public Sans Bold"/>
                <a:cs typeface="Public Sans Bold"/>
                <a:sym typeface="Public Sans Bold"/>
              </a:rPr>
              <a:t> Main Steps of the Algorithm (Core Logic):</a:t>
            </a:r>
          </a:p>
          <a:p>
            <a:pPr algn="l" marL="528543" indent="-264271" lvl="1">
              <a:lnSpc>
                <a:spcPts val="3427"/>
              </a:lnSpc>
              <a:buAutoNum type="arabicPeriod" startAt="1"/>
            </a:pPr>
            <a:r>
              <a:rPr lang="en-US" sz="2448">
                <a:solidFill>
                  <a:srgbClr val="333333"/>
                </a:solidFill>
                <a:latin typeface="Public Sans"/>
                <a:ea typeface="Public Sans"/>
                <a:cs typeface="Public Sans"/>
                <a:sym typeface="Public Sans"/>
              </a:rPr>
              <a:t>Initialize population: Randomly create a set of timetable solutions (called pufferfish).</a:t>
            </a:r>
          </a:p>
          <a:p>
            <a:pPr algn="l" marL="528543" indent="-264271" lvl="1">
              <a:lnSpc>
                <a:spcPts val="3427"/>
              </a:lnSpc>
              <a:buAutoNum type="arabicPeriod" startAt="1"/>
            </a:pPr>
            <a:r>
              <a:rPr lang="en-US" sz="2448">
                <a:solidFill>
                  <a:srgbClr val="333333"/>
                </a:solidFill>
                <a:latin typeface="Public Sans"/>
                <a:ea typeface="Public Sans"/>
                <a:cs typeface="Public Sans"/>
                <a:sym typeface="Public Sans"/>
              </a:rPr>
              <a:t>Evaluate fitness: Check how many constraint violations each timetable has.</a:t>
            </a:r>
          </a:p>
          <a:p>
            <a:pPr algn="l" marL="528543" indent="-264271" lvl="1">
              <a:lnSpc>
                <a:spcPts val="3427"/>
              </a:lnSpc>
              <a:buAutoNum type="arabicPeriod" startAt="1"/>
            </a:pPr>
            <a:r>
              <a:rPr lang="en-US" sz="2448">
                <a:solidFill>
                  <a:srgbClr val="333333"/>
                </a:solidFill>
                <a:latin typeface="Public Sans"/>
                <a:ea typeface="Public Sans"/>
                <a:cs typeface="Public Sans"/>
                <a:sym typeface="Public Sans"/>
              </a:rPr>
              <a:t>Identify the leader: The best solution in the population becomes the leader.</a:t>
            </a:r>
          </a:p>
          <a:p>
            <a:pPr algn="l" marL="528543" indent="-264271" lvl="1">
              <a:lnSpc>
                <a:spcPts val="3427"/>
              </a:lnSpc>
              <a:buAutoNum type="arabicPeriod" startAt="1"/>
            </a:pPr>
            <a:r>
              <a:rPr lang="en-US" sz="2448">
                <a:solidFill>
                  <a:srgbClr val="333333"/>
                </a:solidFill>
                <a:latin typeface="Public Sans"/>
                <a:ea typeface="Public Sans"/>
                <a:cs typeface="Public Sans"/>
                <a:sym typeface="Public Sans"/>
              </a:rPr>
              <a:t>Exploration (Inflation Behavior):</a:t>
            </a:r>
          </a:p>
          <a:p>
            <a:pPr algn="l" marL="1057085" indent="-352362" lvl="2">
              <a:lnSpc>
                <a:spcPts val="3427"/>
              </a:lnSpc>
              <a:buFont typeface="Arial"/>
              <a:buChar char="⚬"/>
            </a:pPr>
            <a:r>
              <a:rPr lang="en-US" sz="2448">
                <a:solidFill>
                  <a:srgbClr val="333333"/>
                </a:solidFill>
                <a:latin typeface="Public Sans"/>
                <a:ea typeface="Public Sans"/>
                <a:cs typeface="Public Sans"/>
                <a:sym typeface="Public Sans"/>
              </a:rPr>
              <a:t>Some solutions make large random changes to explore new areas.</a:t>
            </a:r>
          </a:p>
          <a:p>
            <a:pPr algn="l" marL="1057085" indent="-352362" lvl="2">
              <a:lnSpc>
                <a:spcPts val="3427"/>
              </a:lnSpc>
              <a:buFont typeface="Arial"/>
              <a:buChar char="⚬"/>
            </a:pPr>
            <a:r>
              <a:rPr lang="en-US" sz="2448">
                <a:solidFill>
                  <a:srgbClr val="333333"/>
                </a:solidFill>
                <a:latin typeface="Public Sans"/>
                <a:ea typeface="Public Sans"/>
                <a:cs typeface="Public Sans"/>
                <a:sym typeface="Public Sans"/>
              </a:rPr>
              <a:t>Helps avoid getting stuck in local optima.</a:t>
            </a:r>
          </a:p>
          <a:p>
            <a:pPr algn="l" marL="528543" indent="-264271" lvl="1">
              <a:lnSpc>
                <a:spcPts val="3427"/>
              </a:lnSpc>
              <a:buAutoNum type="arabicPeriod" startAt="1"/>
            </a:pPr>
            <a:r>
              <a:rPr lang="en-US" sz="2448">
                <a:solidFill>
                  <a:srgbClr val="333333"/>
                </a:solidFill>
                <a:latin typeface="Public Sans"/>
                <a:ea typeface="Public Sans"/>
                <a:cs typeface="Public Sans"/>
                <a:sym typeface="Public Sans"/>
              </a:rPr>
              <a:t>Exploitation (Schooling/Following Behavior):</a:t>
            </a:r>
          </a:p>
          <a:p>
            <a:pPr algn="l" marL="1057085" indent="-352362" lvl="2">
              <a:lnSpc>
                <a:spcPts val="3427"/>
              </a:lnSpc>
              <a:buFont typeface="Arial"/>
              <a:buChar char="⚬"/>
            </a:pPr>
            <a:r>
              <a:rPr lang="en-US" sz="2448">
                <a:solidFill>
                  <a:srgbClr val="333333"/>
                </a:solidFill>
                <a:latin typeface="Public Sans"/>
                <a:ea typeface="Public Sans"/>
                <a:cs typeface="Public Sans"/>
                <a:sym typeface="Public Sans"/>
              </a:rPr>
              <a:t>Other solutions move closer to the leader or slightly adjust themselves.</a:t>
            </a:r>
          </a:p>
          <a:p>
            <a:pPr algn="l" marL="1057085" indent="-352362" lvl="2">
              <a:lnSpc>
                <a:spcPts val="3427"/>
              </a:lnSpc>
              <a:buFont typeface="Arial"/>
              <a:buChar char="⚬"/>
            </a:pPr>
            <a:r>
              <a:rPr lang="en-US" sz="2448">
                <a:solidFill>
                  <a:srgbClr val="333333"/>
                </a:solidFill>
                <a:latin typeface="Public Sans"/>
                <a:ea typeface="Public Sans"/>
                <a:cs typeface="Public Sans"/>
                <a:sym typeface="Public Sans"/>
              </a:rPr>
              <a:t>Focuses on refining good areas in the search space.</a:t>
            </a:r>
          </a:p>
          <a:p>
            <a:pPr algn="l" marL="528543" indent="-264271" lvl="1">
              <a:lnSpc>
                <a:spcPts val="3427"/>
              </a:lnSpc>
              <a:buAutoNum type="arabicPeriod" startAt="1"/>
            </a:pPr>
            <a:r>
              <a:rPr lang="en-US" sz="2448">
                <a:solidFill>
                  <a:srgbClr val="333333"/>
                </a:solidFill>
                <a:latin typeface="Public Sans"/>
                <a:ea typeface="Public Sans"/>
                <a:cs typeface="Public Sans"/>
                <a:sym typeface="Public Sans"/>
              </a:rPr>
              <a:t>U</a:t>
            </a:r>
            <a:r>
              <a:rPr lang="en-US" sz="2448">
                <a:solidFill>
                  <a:srgbClr val="333333"/>
                </a:solidFill>
                <a:latin typeface="Public Sans"/>
                <a:ea typeface="Public Sans"/>
                <a:cs typeface="Public Sans"/>
                <a:sym typeface="Public Sans"/>
              </a:rPr>
              <a:t>pdate solutions: Keep better solutions and discard worse ones.</a:t>
            </a:r>
          </a:p>
          <a:p>
            <a:pPr algn="l" marL="528543" indent="-264271" lvl="1">
              <a:lnSpc>
                <a:spcPts val="3427"/>
              </a:lnSpc>
              <a:buAutoNum type="arabicPeriod" startAt="1"/>
            </a:pPr>
            <a:r>
              <a:rPr lang="en-US" sz="2448">
                <a:solidFill>
                  <a:srgbClr val="333333"/>
                </a:solidFill>
                <a:latin typeface="Public Sans"/>
                <a:ea typeface="Public Sans"/>
                <a:cs typeface="Public Sans"/>
                <a:sym typeface="Public Sans"/>
              </a:rPr>
              <a:t>Repeat for several generations until no better solution is found.</a:t>
            </a:r>
          </a:p>
          <a:p>
            <a:pPr algn="l">
              <a:lnSpc>
                <a:spcPts val="3427"/>
              </a:lnSpc>
            </a:pPr>
          </a:p>
        </p:txBody>
      </p:sp>
      <p:sp>
        <p:nvSpPr>
          <p:cNvPr name="Freeform 4" id="4"/>
          <p:cNvSpPr/>
          <p:nvPr/>
        </p:nvSpPr>
        <p:spPr>
          <a:xfrm flipH="false" flipV="false" rot="0">
            <a:off x="12634897" y="2576164"/>
            <a:ext cx="4968921" cy="7453381"/>
          </a:xfrm>
          <a:custGeom>
            <a:avLst/>
            <a:gdLst/>
            <a:ahLst/>
            <a:cxnLst/>
            <a:rect r="r" b="b" t="t" l="l"/>
            <a:pathLst>
              <a:path h="7453381" w="4968921">
                <a:moveTo>
                  <a:pt x="0" y="0"/>
                </a:moveTo>
                <a:lnTo>
                  <a:pt x="4968921" y="0"/>
                </a:lnTo>
                <a:lnTo>
                  <a:pt x="4968921" y="7453381"/>
                </a:lnTo>
                <a:lnTo>
                  <a:pt x="0" y="7453381"/>
                </a:lnTo>
                <a:lnTo>
                  <a:pt x="0" y="0"/>
                </a:lnTo>
                <a:close/>
              </a:path>
            </a:pathLst>
          </a:custGeom>
          <a:blipFill>
            <a:blip r:embed="rId2"/>
            <a:stretch>
              <a:fillRect l="0" t="0" r="0" b="0"/>
            </a:stretch>
          </a:blipFill>
        </p:spPr>
      </p:sp>
      <p:sp>
        <p:nvSpPr>
          <p:cNvPr name="TextBox 5" id="5"/>
          <p:cNvSpPr txBox="true"/>
          <p:nvPr/>
        </p:nvSpPr>
        <p:spPr>
          <a:xfrm rot="0">
            <a:off x="-144650" y="1987367"/>
            <a:ext cx="13927021" cy="1187120"/>
          </a:xfrm>
          <a:prstGeom prst="rect">
            <a:avLst/>
          </a:prstGeom>
        </p:spPr>
        <p:txBody>
          <a:bodyPr anchor="t" rtlCol="false" tIns="0" lIns="0" bIns="0" rIns="0">
            <a:spAutoFit/>
          </a:bodyPr>
          <a:lstStyle/>
          <a:p>
            <a:pPr algn="ctr">
              <a:lnSpc>
                <a:spcPts val="9492"/>
              </a:lnSpc>
            </a:pPr>
            <a:r>
              <a:rPr lang="en-US" b="true" sz="7910" i="true" spc="-387">
                <a:solidFill>
                  <a:srgbClr val="333333"/>
                </a:solidFill>
                <a:latin typeface="Noto Serif Display Semi-Bold Italics"/>
                <a:ea typeface="Noto Serif Display Semi-Bold Italics"/>
                <a:cs typeface="Noto Serif Display Semi-Bold Italics"/>
                <a:sym typeface="Noto Serif Display Semi-Bold Italics"/>
              </a:rPr>
              <a:t>The Developed Algorithim 2</a:t>
            </a: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862496"/>
            <a:ext cx="12787060" cy="1389828"/>
          </a:xfrm>
          <a:prstGeom prst="rect">
            <a:avLst/>
          </a:prstGeom>
        </p:spPr>
        <p:txBody>
          <a:bodyPr anchor="t" rtlCol="false" tIns="0" lIns="0" bIns="0" rIns="0">
            <a:spAutoFit/>
          </a:bodyPr>
          <a:lstStyle/>
          <a:p>
            <a:pPr algn="l">
              <a:lnSpc>
                <a:spcPts val="11012"/>
              </a:lnSpc>
            </a:pPr>
            <a:r>
              <a:rPr lang="en-US" b="true" sz="9176" i="true" spc="-449">
                <a:solidFill>
                  <a:srgbClr val="333333"/>
                </a:solidFill>
                <a:latin typeface="Noto Serif Display Semi-Bold Italics"/>
                <a:ea typeface="Noto Serif Display Semi-Bold Italics"/>
                <a:cs typeface="Noto Serif Display Semi-Bold Italics"/>
                <a:sym typeface="Noto Serif Display Semi-Bold Italics"/>
              </a:rPr>
              <a:t>Experimentation </a:t>
            </a:r>
          </a:p>
        </p:txBody>
      </p:sp>
      <p:sp>
        <p:nvSpPr>
          <p:cNvPr name="AutoShape 3" id="3"/>
          <p:cNvSpPr/>
          <p:nvPr/>
        </p:nvSpPr>
        <p:spPr>
          <a:xfrm rot="0">
            <a:off x="1028700" y="1751768"/>
            <a:ext cx="16230600" cy="0"/>
          </a:xfrm>
          <a:prstGeom prst="line">
            <a:avLst/>
          </a:prstGeom>
          <a:ln cap="flat" w="28575">
            <a:solidFill>
              <a:srgbClr val="333333"/>
            </a:solidFill>
            <a:prstDash val="solid"/>
            <a:headEnd type="none" len="sm" w="sm"/>
            <a:tailEnd type="none" len="sm" w="sm"/>
          </a:ln>
        </p:spPr>
      </p:sp>
      <p:sp>
        <p:nvSpPr>
          <p:cNvPr name="TextBox 4" id="4"/>
          <p:cNvSpPr txBox="true"/>
          <p:nvPr/>
        </p:nvSpPr>
        <p:spPr>
          <a:xfrm rot="0">
            <a:off x="759863" y="3280899"/>
            <a:ext cx="16170454" cy="7006516"/>
          </a:xfrm>
          <a:prstGeom prst="rect">
            <a:avLst/>
          </a:prstGeom>
        </p:spPr>
        <p:txBody>
          <a:bodyPr anchor="t" rtlCol="false" tIns="0" lIns="0" bIns="0" rIns="0">
            <a:spAutoFit/>
          </a:bodyPr>
          <a:lstStyle/>
          <a:p>
            <a:pPr algn="l">
              <a:lnSpc>
                <a:spcPts val="3305"/>
              </a:lnSpc>
            </a:pPr>
            <a:r>
              <a:rPr lang="en-US" sz="2361">
                <a:solidFill>
                  <a:srgbClr val="333333"/>
                </a:solidFill>
                <a:latin typeface="Public Sans"/>
                <a:ea typeface="Public Sans"/>
                <a:cs typeface="Public Sans"/>
                <a:sym typeface="Public Sans"/>
              </a:rPr>
              <a:t>The dataset used in the experiment was based on real university scheduling data. It included information about lectures, available timeslots, classrooms, and student enrollments. Each lecture needed to be assigned to a suitable time and room without creating any conflicts. The dataset also contained constraints such as room capacity, teacher availability, and student schedules.</a:t>
            </a:r>
          </a:p>
          <a:p>
            <a:pPr algn="l">
              <a:lnSpc>
                <a:spcPts val="3305"/>
              </a:lnSpc>
            </a:pPr>
            <a:r>
              <a:rPr lang="en-US" sz="2361">
                <a:solidFill>
                  <a:srgbClr val="333333"/>
                </a:solidFill>
                <a:latin typeface="Public Sans"/>
                <a:ea typeface="Public Sans"/>
                <a:cs typeface="Public Sans"/>
                <a:sym typeface="Public Sans"/>
              </a:rPr>
              <a:t>The algorithm was applied to this dataset using Python. Data was loaded and prepared using the Pandas library. An initial population of possible schedules was created. The PFOA algorithm was then used to improve these schedules over 50 generations. During each generation, the algorithm applied crossover and mutation to explore new solutions. It also used predation to remove weak solutions and a schooling factor to guide the search towards better results.</a:t>
            </a:r>
          </a:p>
          <a:p>
            <a:pPr algn="l">
              <a:lnSpc>
                <a:spcPts val="3305"/>
              </a:lnSpc>
            </a:pPr>
            <a:r>
              <a:rPr lang="en-US" sz="2361">
                <a:solidFill>
                  <a:srgbClr val="333333"/>
                </a:solidFill>
                <a:latin typeface="Public Sans"/>
                <a:ea typeface="Public Sans"/>
                <a:cs typeface="Public Sans"/>
                <a:sym typeface="Public Sans"/>
              </a:rPr>
              <a:t>Each schedule was evaluated based on how many constraint violations it had. Penalties were assigned to each type of violation: 100 points for teacher or room conflicts, 50 for room capacity issues, and 200 for student conflicts. The goal was to find a schedule with the lowest total penalty.</a:t>
            </a:r>
          </a:p>
          <a:p>
            <a:pPr algn="l">
              <a:lnSpc>
                <a:spcPts val="3305"/>
              </a:lnSpc>
            </a:pPr>
            <a:r>
              <a:rPr lang="en-US" sz="2361">
                <a:solidFill>
                  <a:srgbClr val="333333"/>
                </a:solidFill>
                <a:latin typeface="Public Sans"/>
                <a:ea typeface="Public Sans"/>
                <a:cs typeface="Public Sans"/>
                <a:sym typeface="Public Sans"/>
              </a:rPr>
              <a:t>The results showed that the algorithm found an optimal schedule with zero violations in the very first generation. This solution remained optimal through all 50 generations. The average time per generation was about 0.08 seconds, and the total optimization process took only 3.92 seconds. This shows that the initial population was very effective and that the PFOA algorithm was able to maintain a perfect solution without any loss of quality.</a:t>
            </a:r>
          </a:p>
          <a:p>
            <a:pPr algn="l">
              <a:lnSpc>
                <a:spcPts val="3305"/>
              </a:lnSpc>
            </a:pP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F5F5F4"/>
        </a:solidFill>
      </p:bgPr>
    </p:bg>
    <p:spTree>
      <p:nvGrpSpPr>
        <p:cNvPr id="1" name=""/>
        <p:cNvGrpSpPr/>
        <p:nvPr/>
      </p:nvGrpSpPr>
      <p:grpSpPr>
        <a:xfrm>
          <a:off x="0" y="0"/>
          <a:ext cx="0" cy="0"/>
          <a:chOff x="0" y="0"/>
          <a:chExt cx="0" cy="0"/>
        </a:xfrm>
      </p:grpSpPr>
      <p:sp>
        <p:nvSpPr>
          <p:cNvPr name="TextBox 2" id="2"/>
          <p:cNvSpPr txBox="true"/>
          <p:nvPr/>
        </p:nvSpPr>
        <p:spPr>
          <a:xfrm rot="0">
            <a:off x="1028700" y="2044052"/>
            <a:ext cx="11293394" cy="1504950"/>
          </a:xfrm>
          <a:prstGeom prst="rect">
            <a:avLst/>
          </a:prstGeom>
        </p:spPr>
        <p:txBody>
          <a:bodyPr anchor="t" rtlCol="false" tIns="0" lIns="0" bIns="0" rIns="0">
            <a:spAutoFit/>
          </a:bodyPr>
          <a:lstStyle/>
          <a:p>
            <a:pPr algn="l">
              <a:lnSpc>
                <a:spcPts val="11999"/>
              </a:lnSpc>
            </a:pPr>
            <a:r>
              <a:rPr lang="en-US" b="true" sz="9999" i="true" spc="-489">
                <a:solidFill>
                  <a:srgbClr val="333333"/>
                </a:solidFill>
                <a:latin typeface="Noto Serif Display Semi-Bold Italics"/>
                <a:ea typeface="Noto Serif Display Semi-Bold Italics"/>
                <a:cs typeface="Noto Serif Display Semi-Bold Italics"/>
                <a:sym typeface="Noto Serif Display Semi-Bold Italics"/>
              </a:rPr>
              <a:t>Conclusion</a:t>
            </a:r>
          </a:p>
        </p:txBody>
      </p:sp>
      <p:sp>
        <p:nvSpPr>
          <p:cNvPr name="TextBox 3" id="3"/>
          <p:cNvSpPr txBox="true"/>
          <p:nvPr/>
        </p:nvSpPr>
        <p:spPr>
          <a:xfrm rot="0">
            <a:off x="437194" y="3965781"/>
            <a:ext cx="17672074" cy="4163885"/>
          </a:xfrm>
          <a:prstGeom prst="rect">
            <a:avLst/>
          </a:prstGeom>
        </p:spPr>
        <p:txBody>
          <a:bodyPr anchor="t" rtlCol="false" tIns="0" lIns="0" bIns="0" rIns="0">
            <a:spAutoFit/>
          </a:bodyPr>
          <a:lstStyle/>
          <a:p>
            <a:pPr algn="ctr">
              <a:lnSpc>
                <a:spcPts val="3710"/>
              </a:lnSpc>
            </a:pPr>
            <a:r>
              <a:rPr lang="en-US" sz="2650">
                <a:solidFill>
                  <a:srgbClr val="333333"/>
                </a:solidFill>
                <a:latin typeface="Public Sans"/>
                <a:ea typeface="Public Sans"/>
                <a:cs typeface="Public Sans"/>
                <a:sym typeface="Public Sans"/>
              </a:rPr>
              <a:t>This research tested the Pufferfish Optimization Algorithm (PFOA) to solve the University Timetabling Scheduling Problem (UTSP). This problem is difficult because it must organize lectures, rooms, teachers, and students without conflicts.</a:t>
            </a:r>
          </a:p>
          <a:p>
            <a:pPr algn="ctr">
              <a:lnSpc>
                <a:spcPts val="3710"/>
              </a:lnSpc>
            </a:pPr>
            <a:r>
              <a:rPr lang="en-US" sz="2650">
                <a:solidFill>
                  <a:srgbClr val="333333"/>
                </a:solidFill>
                <a:latin typeface="Public Sans"/>
                <a:ea typeface="Public Sans"/>
                <a:cs typeface="Public Sans"/>
                <a:sym typeface="Public Sans"/>
              </a:rPr>
              <a:t>PFOA is a new algorithm inspired by how pufferfis</a:t>
            </a:r>
            <a:r>
              <a:rPr lang="en-US" sz="2650">
                <a:solidFill>
                  <a:srgbClr val="333333"/>
                </a:solidFill>
                <a:latin typeface="Public Sans"/>
                <a:ea typeface="Public Sans"/>
                <a:cs typeface="Public Sans"/>
                <a:sym typeface="Public Sans"/>
              </a:rPr>
              <a:t>h behave in nature. We used it to explore different timetable options and improve the schedule. The results were very good—the algorithm created a timetable with no conflicts from the start and stayed stable through all tests.</a:t>
            </a:r>
          </a:p>
          <a:p>
            <a:pPr algn="ctr">
              <a:lnSpc>
                <a:spcPts val="3710"/>
              </a:lnSpc>
            </a:pPr>
            <a:r>
              <a:rPr lang="en-US" sz="2650">
                <a:solidFill>
                  <a:srgbClr val="333333"/>
                </a:solidFill>
                <a:latin typeface="Public Sans"/>
                <a:ea typeface="Public Sans"/>
                <a:cs typeface="Public Sans"/>
                <a:sym typeface="Public Sans"/>
              </a:rPr>
              <a:t>Although the results are strong, more testing in different situations is needed. In the future, PFOA could be combined with other methods to make it even better.</a:t>
            </a:r>
          </a:p>
          <a:p>
            <a:pPr algn="ctr">
              <a:lnSpc>
                <a:spcPts val="3710"/>
              </a:lnSpc>
            </a:pPr>
            <a:r>
              <a:rPr lang="en-US" sz="2650">
                <a:solidFill>
                  <a:srgbClr val="333333"/>
                </a:solidFill>
                <a:latin typeface="Public Sans"/>
                <a:ea typeface="Public Sans"/>
                <a:cs typeface="Public Sans"/>
                <a:sym typeface="Public Sans"/>
              </a:rPr>
              <a:t>This study shows that PFOA is a useful and effective way to solve complex scheduling problems in universities.</a:t>
            </a:r>
          </a:p>
        </p:txBody>
      </p:sp>
      <p:sp>
        <p:nvSpPr>
          <p:cNvPr name="AutoShape 4" id="4"/>
          <p:cNvSpPr/>
          <p:nvPr/>
        </p:nvSpPr>
        <p:spPr>
          <a:xfrm rot="0">
            <a:off x="1028700" y="1751768"/>
            <a:ext cx="16230600" cy="0"/>
          </a:xfrm>
          <a:prstGeom prst="line">
            <a:avLst/>
          </a:prstGeom>
          <a:ln cap="flat" w="28575">
            <a:solidFill>
              <a:srgbClr val="333333"/>
            </a:solidFill>
            <a:prstDash val="solid"/>
            <a:headEnd type="none" len="sm" w="sm"/>
            <a:tailEnd type="none" len="sm" w="sm"/>
          </a:ln>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5F5F4"/>
        </a:solidFill>
      </p:bgPr>
    </p:bg>
    <p:spTree>
      <p:nvGrpSpPr>
        <p:cNvPr id="1" name=""/>
        <p:cNvGrpSpPr/>
        <p:nvPr/>
      </p:nvGrpSpPr>
      <p:grpSpPr>
        <a:xfrm>
          <a:off x="0" y="0"/>
          <a:ext cx="0" cy="0"/>
          <a:chOff x="0" y="0"/>
          <a:chExt cx="0" cy="0"/>
        </a:xfrm>
      </p:grpSpPr>
      <p:sp>
        <p:nvSpPr>
          <p:cNvPr name="TextBox 2" id="2"/>
          <p:cNvSpPr txBox="true"/>
          <p:nvPr/>
        </p:nvSpPr>
        <p:spPr>
          <a:xfrm rot="0">
            <a:off x="1028700" y="1028700"/>
            <a:ext cx="7229473" cy="1143000"/>
          </a:xfrm>
          <a:prstGeom prst="rect">
            <a:avLst/>
          </a:prstGeom>
        </p:spPr>
        <p:txBody>
          <a:bodyPr anchor="t" rtlCol="false" tIns="0" lIns="0" bIns="0" rIns="0">
            <a:spAutoFit/>
          </a:bodyPr>
          <a:lstStyle/>
          <a:p>
            <a:pPr algn="l">
              <a:lnSpc>
                <a:spcPts val="9000"/>
              </a:lnSpc>
            </a:pPr>
            <a:r>
              <a:rPr lang="en-US" b="true" sz="7500" i="true" spc="-367">
                <a:solidFill>
                  <a:srgbClr val="333333"/>
                </a:solidFill>
                <a:latin typeface="Noto Serif Display Semi-Bold Italics"/>
                <a:ea typeface="Noto Serif Display Semi-Bold Italics"/>
                <a:cs typeface="Noto Serif Display Semi-Bold Italics"/>
                <a:sym typeface="Noto Serif Display Semi-Bold Italics"/>
              </a:rPr>
              <a:t>References</a:t>
            </a:r>
          </a:p>
        </p:txBody>
      </p:sp>
      <p:sp>
        <p:nvSpPr>
          <p:cNvPr name="TextBox 3" id="3"/>
          <p:cNvSpPr txBox="true"/>
          <p:nvPr/>
        </p:nvSpPr>
        <p:spPr>
          <a:xfrm rot="0">
            <a:off x="1099772" y="8676491"/>
            <a:ext cx="3851713" cy="381000"/>
          </a:xfrm>
          <a:prstGeom prst="rect">
            <a:avLst/>
          </a:prstGeom>
        </p:spPr>
        <p:txBody>
          <a:bodyPr anchor="t" rtlCol="false" tIns="0" lIns="0" bIns="0" rIns="0">
            <a:spAutoFit/>
          </a:bodyPr>
          <a:lstStyle/>
          <a:p>
            <a:pPr algn="ctr">
              <a:lnSpc>
                <a:spcPts val="2999"/>
              </a:lnSpc>
            </a:pPr>
            <a:r>
              <a:rPr lang="en-US" b="true" sz="2499">
                <a:solidFill>
                  <a:srgbClr val="F5F5F4"/>
                </a:solidFill>
                <a:latin typeface="Public Sans Bold"/>
                <a:ea typeface="Public Sans Bold"/>
                <a:cs typeface="Public Sans Bold"/>
                <a:sym typeface="Public Sans Bold"/>
              </a:rPr>
              <a:t>Durable</a:t>
            </a:r>
          </a:p>
        </p:txBody>
      </p:sp>
      <p:sp>
        <p:nvSpPr>
          <p:cNvPr name="TextBox 4" id="4"/>
          <p:cNvSpPr txBox="true"/>
          <p:nvPr/>
        </p:nvSpPr>
        <p:spPr>
          <a:xfrm rot="0">
            <a:off x="824730" y="2697735"/>
            <a:ext cx="16966663" cy="6560565"/>
          </a:xfrm>
          <a:prstGeom prst="rect">
            <a:avLst/>
          </a:prstGeom>
        </p:spPr>
        <p:txBody>
          <a:bodyPr anchor="t" rtlCol="false" tIns="0" lIns="0" bIns="0" rIns="0">
            <a:spAutoFit/>
          </a:bodyPr>
          <a:lstStyle/>
          <a:p>
            <a:pPr algn="ctr" marL="334944" indent="-167472" lvl="1">
              <a:lnSpc>
                <a:spcPts val="2171"/>
              </a:lnSpc>
              <a:buAutoNum type="arabicPeriod" startAt="1"/>
            </a:pPr>
            <a:r>
              <a:rPr lang="en-US" sz="1551">
                <a:solidFill>
                  <a:srgbClr val="000000"/>
                </a:solidFill>
                <a:latin typeface="Canva Sans"/>
                <a:ea typeface="Canva Sans"/>
                <a:cs typeface="Canva Sans"/>
                <a:sym typeface="Canva Sans"/>
              </a:rPr>
              <a:t>M. A. Abed and M. A. AL-Rawi, “University Timetable Scheduling Using Genetic Algorithm,” International Journal of Emerging Technologies in Learning (iJET), vol. 15, no. 9, pp. 89–102, 2020. </a:t>
            </a:r>
          </a:p>
          <a:p>
            <a:pPr algn="ctr" marL="334944" indent="-167472" lvl="1">
              <a:lnSpc>
                <a:spcPts val="2171"/>
              </a:lnSpc>
              <a:buAutoNum type="arabicPeriod" startAt="1"/>
            </a:pPr>
            <a:r>
              <a:rPr lang="en-US" sz="1551">
                <a:solidFill>
                  <a:srgbClr val="000000"/>
                </a:solidFill>
                <a:latin typeface="Canva Sans"/>
                <a:ea typeface="Canva Sans"/>
                <a:cs typeface="Canva Sans"/>
                <a:sym typeface="Canva Sans"/>
              </a:rPr>
              <a:t>A. A. Mohammed and H. A. Hasan, “A Hybrid PSO Algorithm for University Course Timetabling Problem,” Indonesian Journal of Electrical Engineering and Computer Science, vol. 20, no. 1, pp. 56–63, 2020. </a:t>
            </a:r>
          </a:p>
          <a:p>
            <a:pPr algn="ctr" marL="334944" indent="-167472" lvl="1">
              <a:lnSpc>
                <a:spcPts val="2171"/>
              </a:lnSpc>
              <a:buAutoNum type="arabicPeriod" startAt="1"/>
            </a:pPr>
            <a:r>
              <a:rPr lang="en-US" sz="1551">
                <a:solidFill>
                  <a:srgbClr val="000000"/>
                </a:solidFill>
                <a:latin typeface="Canva Sans"/>
                <a:ea typeface="Canva Sans"/>
                <a:cs typeface="Canva Sans"/>
                <a:sym typeface="Canva Sans"/>
              </a:rPr>
              <a:t>N. W. A. Rashid and H. M. D. Idris, “Greedy Algorithm Approach for Solving University Timetable Scheduling Problem,” Journal of Telecommunication, Electronic and Computer Engineering, vol. 10, no. 1–7, pp. 35–39, 2018. </a:t>
            </a:r>
          </a:p>
          <a:p>
            <a:pPr algn="ctr" marL="334944" indent="-167472" lvl="1">
              <a:lnSpc>
                <a:spcPts val="2171"/>
              </a:lnSpc>
              <a:buAutoNum type="arabicPeriod" startAt="1"/>
            </a:pPr>
            <a:r>
              <a:rPr lang="en-US" sz="1551">
                <a:solidFill>
                  <a:srgbClr val="000000"/>
                </a:solidFill>
                <a:latin typeface="Canva Sans"/>
                <a:ea typeface="Canva Sans"/>
                <a:cs typeface="Canva Sans"/>
                <a:sym typeface="Canva Sans"/>
              </a:rPr>
              <a:t>S. Mirjalili and A. Lewis, “The Whale Optimization Algorithm,” Advances in Engineering Software, vol. 95, pp. 51–67, 2016. </a:t>
            </a:r>
          </a:p>
          <a:p>
            <a:pPr algn="ctr" marL="334944" indent="-167472" lvl="1">
              <a:lnSpc>
                <a:spcPts val="2171"/>
              </a:lnSpc>
              <a:buAutoNum type="arabicPeriod" startAt="1"/>
            </a:pPr>
            <a:r>
              <a:rPr lang="en-US" sz="1551">
                <a:solidFill>
                  <a:srgbClr val="000000"/>
                </a:solidFill>
                <a:latin typeface="Canva Sans"/>
                <a:ea typeface="Canva Sans"/>
                <a:cs typeface="Canva Sans"/>
                <a:sym typeface="Canva Sans"/>
              </a:rPr>
              <a:t>X.-S. Yang, “Firefly Algorithms for Multimodal Optimization,” in Stochastic Algorithms: Foundations and Applications, Lecture Notes in Computer Science, vol. 5792, Springer, 2009, pp. 169–178. </a:t>
            </a:r>
          </a:p>
          <a:p>
            <a:pPr algn="ctr" marL="334944" indent="-167472" lvl="1">
              <a:lnSpc>
                <a:spcPts val="2171"/>
              </a:lnSpc>
              <a:buAutoNum type="arabicPeriod" startAt="1"/>
            </a:pPr>
            <a:r>
              <a:rPr lang="en-US" sz="1551">
                <a:solidFill>
                  <a:srgbClr val="000000"/>
                </a:solidFill>
                <a:latin typeface="Canva Sans"/>
                <a:ea typeface="Canva Sans"/>
                <a:cs typeface="Canva Sans"/>
                <a:sym typeface="Canva Sans"/>
              </a:rPr>
              <a:t>P. Kostuch, “The University Course Timetabling Problem with Some Side Constraints,” Practice and Theory of Automated Timetabling III, Springer, 2001 </a:t>
            </a:r>
          </a:p>
          <a:p>
            <a:pPr algn="ctr" marL="334944" indent="-167472" lvl="1">
              <a:lnSpc>
                <a:spcPts val="2171"/>
              </a:lnSpc>
              <a:buAutoNum type="arabicPeriod" startAt="1"/>
            </a:pPr>
            <a:r>
              <a:rPr lang="en-US" sz="1551">
                <a:solidFill>
                  <a:srgbClr val="000000"/>
                </a:solidFill>
                <a:latin typeface="Canva Sans"/>
                <a:ea typeface="Canva Sans"/>
                <a:cs typeface="Canva Sans"/>
                <a:sym typeface="Canva Sans"/>
              </a:rPr>
              <a:t>F. Glover and M. Laguna, Tabu Search. Springer US, 1997. </a:t>
            </a:r>
          </a:p>
          <a:p>
            <a:pPr algn="ctr" marL="334944" indent="-167472" lvl="1">
              <a:lnSpc>
                <a:spcPts val="2171"/>
              </a:lnSpc>
              <a:buAutoNum type="arabicPeriod" startAt="1"/>
            </a:pPr>
            <a:r>
              <a:rPr lang="en-US" sz="1551">
                <a:solidFill>
                  <a:srgbClr val="000000"/>
                </a:solidFill>
                <a:latin typeface="Canva Sans"/>
                <a:ea typeface="Canva Sans"/>
                <a:cs typeface="Canva Sans"/>
                <a:sym typeface="Canva Sans"/>
              </a:rPr>
              <a:t>M. Dorigo and T. Stützle, Ant Colony Optimization. MIT Press, 2004. </a:t>
            </a:r>
          </a:p>
          <a:p>
            <a:pPr algn="ctr" marL="334944" indent="-167472" lvl="1">
              <a:lnSpc>
                <a:spcPts val="2171"/>
              </a:lnSpc>
              <a:buAutoNum type="arabicPeriod" startAt="1"/>
            </a:pPr>
            <a:r>
              <a:rPr lang="en-US" sz="1551">
                <a:solidFill>
                  <a:srgbClr val="000000"/>
                </a:solidFill>
                <a:latin typeface="Canva Sans"/>
                <a:ea typeface="Canva Sans"/>
                <a:cs typeface="Canva Sans"/>
                <a:sym typeface="Canva Sans"/>
              </a:rPr>
              <a:t>D. Chaudhuri and P. De, “Fuzzy Genetic Heuristic for University Course Timetabling Problem,” International Journal of Knowledge-Based and Intelligent Engineering Systems, vol. 14, no. 1, pp. 19–29, 2010. </a:t>
            </a:r>
          </a:p>
          <a:p>
            <a:pPr algn="ctr" marL="334944" indent="-167472" lvl="1">
              <a:lnSpc>
                <a:spcPts val="2171"/>
              </a:lnSpc>
              <a:buAutoNum type="arabicPeriod" startAt="1"/>
            </a:pPr>
            <a:r>
              <a:rPr lang="en-US" sz="1551">
                <a:solidFill>
                  <a:srgbClr val="000000"/>
                </a:solidFill>
                <a:latin typeface="Canva Sans"/>
                <a:ea typeface="Canva Sans"/>
                <a:cs typeface="Canva Sans"/>
                <a:sym typeface="Canva Sans"/>
              </a:rPr>
              <a:t>M. W. Carter and G. Laporte, “Recent Developments in Practical Course Timetabling,” in Practice and Theory of Automated Timetabling, Springer, 1996. </a:t>
            </a:r>
          </a:p>
          <a:p>
            <a:pPr algn="ctr" marL="334944" indent="-167472" lvl="1">
              <a:lnSpc>
                <a:spcPts val="2171"/>
              </a:lnSpc>
              <a:buAutoNum type="arabicPeriod" startAt="1"/>
            </a:pPr>
            <a:r>
              <a:rPr lang="en-US" sz="1551">
                <a:solidFill>
                  <a:srgbClr val="000000"/>
                </a:solidFill>
                <a:latin typeface="Canva Sans"/>
                <a:ea typeface="Canva Sans"/>
                <a:cs typeface="Canva Sans"/>
                <a:sym typeface="Canva Sans"/>
              </a:rPr>
              <a:t>D. Tuba, M. Subotic, and N. Bacanin, “Modified Bee Colony Optimization Algorithm for University Course Timetabling,” Computing and Informatics, vol. 34, no. 2, pp. 304–334, 2015. </a:t>
            </a:r>
          </a:p>
          <a:p>
            <a:pPr algn="ctr" marL="334944" indent="-167472" lvl="1">
              <a:lnSpc>
                <a:spcPts val="2171"/>
              </a:lnSpc>
              <a:buAutoNum type="arabicPeriod" startAt="1"/>
            </a:pPr>
            <a:r>
              <a:rPr lang="en-US" sz="1551">
                <a:solidFill>
                  <a:srgbClr val="000000"/>
                </a:solidFill>
                <a:latin typeface="Canva Sans"/>
                <a:ea typeface="Canva Sans"/>
                <a:cs typeface="Canva Sans"/>
                <a:sym typeface="Canva Sans"/>
              </a:rPr>
              <a:t>X.-S. Yang and S. Deb, “Cuckoo Search via Lévy Flights,” in Proc. of World Congress on Nature &amp; Biologically Inspired Computing (NaBIC), IEEE, 2009, pp. 210–214. </a:t>
            </a:r>
          </a:p>
          <a:p>
            <a:pPr algn="ctr" marL="334944" indent="-167472" lvl="1">
              <a:lnSpc>
                <a:spcPts val="2171"/>
              </a:lnSpc>
              <a:buAutoNum type="arabicPeriod" startAt="1"/>
            </a:pPr>
            <a:r>
              <a:rPr lang="en-US" sz="1551">
                <a:solidFill>
                  <a:srgbClr val="000000"/>
                </a:solidFill>
                <a:latin typeface="Canva Sans"/>
                <a:ea typeface="Canva Sans"/>
                <a:cs typeface="Canva Sans"/>
                <a:sym typeface="Canva Sans"/>
              </a:rPr>
              <a:t>Z. W. Geem, J. H. Kim, and G. V. Loganathan, “A New Heuristic Optimization Algorithm: Harmony Search,” Simulation, vol. 76, no. 2, pp. 60–68, 2001. </a:t>
            </a:r>
          </a:p>
          <a:p>
            <a:pPr algn="ctr" marL="334944" indent="-167472" lvl="1">
              <a:lnSpc>
                <a:spcPts val="2171"/>
              </a:lnSpc>
              <a:buAutoNum type="arabicPeriod" startAt="1"/>
            </a:pPr>
            <a:r>
              <a:rPr lang="en-US" sz="1551">
                <a:solidFill>
                  <a:srgbClr val="000000"/>
                </a:solidFill>
                <a:latin typeface="Canva Sans"/>
                <a:ea typeface="Canva Sans"/>
                <a:cs typeface="Canva Sans"/>
                <a:sym typeface="Canva Sans"/>
              </a:rPr>
              <a:t>S. Mirjalili, S. M. Mirjalili, and A. Lewis, “Grey Wolf Optimizer,” Advances in Engineering Software, vol. 69, pp. 46–61, 2014. </a:t>
            </a:r>
          </a:p>
          <a:p>
            <a:pPr algn="ctr" marL="334944" indent="-167472" lvl="1">
              <a:lnSpc>
                <a:spcPts val="2171"/>
              </a:lnSpc>
              <a:buAutoNum type="arabicPeriod" startAt="1"/>
            </a:pPr>
            <a:r>
              <a:rPr lang="en-US" sz="1551">
                <a:solidFill>
                  <a:srgbClr val="000000"/>
                </a:solidFill>
                <a:latin typeface="Canva Sans"/>
                <a:ea typeface="Canva Sans"/>
                <a:cs typeface="Canva Sans"/>
                <a:sym typeface="Canva Sans"/>
              </a:rPr>
              <a:t>L. N. de Castro and F. J. Von Zuben, “Learning and Optimization Using the Clonal Selection Principle,” IEEE Transactions on Evolutionary Computation, vol. 6, no. 3, pp. 239–251, 2002. </a:t>
            </a:r>
          </a:p>
          <a:p>
            <a:pPr algn="ctr" marL="334944" indent="-167472" lvl="1">
              <a:lnSpc>
                <a:spcPts val="2171"/>
              </a:lnSpc>
              <a:buAutoNum type="arabicPeriod" startAt="1"/>
            </a:pPr>
            <a:r>
              <a:rPr lang="en-US" sz="1551" u="sng">
                <a:solidFill>
                  <a:srgbClr val="000000"/>
                </a:solidFill>
                <a:latin typeface="Canva Sans"/>
                <a:ea typeface="Canva Sans"/>
                <a:cs typeface="Canva Sans"/>
                <a:sym typeface="Canva Sans"/>
                <a:hlinkClick r:id="rId2" tooltip="https://www.mdpi.com/2313-7673/9/2/65"/>
              </a:rPr>
              <a:t>Pufferfish Optimization Algorithm: A New Bio-Inspired Metaheuristic Algorithm for Solving Optimization Problems</a:t>
            </a:r>
            <a:r>
              <a:rPr lang="en-US" sz="1551">
                <a:solidFill>
                  <a:srgbClr val="000000"/>
                </a:solidFill>
                <a:latin typeface="Canva Sans"/>
                <a:ea typeface="Canva Sans"/>
                <a:cs typeface="Canva Sans"/>
                <a:sym typeface="Canva Sans"/>
              </a:rPr>
              <a:t> </a:t>
            </a:r>
          </a:p>
          <a:p>
            <a:pPr algn="ctr">
              <a:lnSpc>
                <a:spcPts val="2171"/>
              </a:lnSpc>
            </a:pP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0">
            <a:off x="1028700" y="1751768"/>
            <a:ext cx="16230600" cy="0"/>
          </a:xfrm>
          <a:prstGeom prst="line">
            <a:avLst/>
          </a:prstGeom>
          <a:ln cap="flat" w="28575">
            <a:solidFill>
              <a:srgbClr val="333333"/>
            </a:solidFill>
            <a:prstDash val="solid"/>
            <a:headEnd type="none" len="sm" w="sm"/>
            <a:tailEnd type="none" len="sm" w="sm"/>
          </a:ln>
        </p:spPr>
      </p:sp>
      <p:sp>
        <p:nvSpPr>
          <p:cNvPr name="AutoShape 3" id="3"/>
          <p:cNvSpPr/>
          <p:nvPr/>
        </p:nvSpPr>
        <p:spPr>
          <a:xfrm>
            <a:off x="7283848" y="7183148"/>
            <a:ext cx="4222301" cy="0"/>
          </a:xfrm>
          <a:prstGeom prst="line">
            <a:avLst/>
          </a:prstGeom>
          <a:ln cap="flat" w="28575">
            <a:solidFill>
              <a:srgbClr val="333333"/>
            </a:solidFill>
            <a:prstDash val="solid"/>
            <a:headEnd type="none" len="sm" w="sm"/>
            <a:tailEnd type="none" len="sm" w="sm"/>
          </a:ln>
        </p:spPr>
      </p:sp>
      <p:sp>
        <p:nvSpPr>
          <p:cNvPr name="TextBox 4" id="4"/>
          <p:cNvSpPr txBox="true"/>
          <p:nvPr/>
        </p:nvSpPr>
        <p:spPr>
          <a:xfrm rot="0">
            <a:off x="3771016" y="3894897"/>
            <a:ext cx="11247966" cy="2099092"/>
          </a:xfrm>
          <a:prstGeom prst="rect">
            <a:avLst/>
          </a:prstGeom>
        </p:spPr>
        <p:txBody>
          <a:bodyPr anchor="t" rtlCol="false" tIns="0" lIns="0" bIns="0" rIns="0">
            <a:spAutoFit/>
          </a:bodyPr>
          <a:lstStyle/>
          <a:p>
            <a:pPr algn="ctr">
              <a:lnSpc>
                <a:spcPts val="16631"/>
              </a:lnSpc>
            </a:pPr>
            <a:r>
              <a:rPr lang="en-US" b="true" sz="13859" i="true" spc="-679">
                <a:solidFill>
                  <a:srgbClr val="333333"/>
                </a:solidFill>
                <a:latin typeface="Noto Serif Display Semi-Bold Italics"/>
                <a:ea typeface="Noto Serif Display Semi-Bold Italics"/>
                <a:cs typeface="Noto Serif Display Semi-Bold Italics"/>
                <a:sym typeface="Noto Serif Display Semi-Bold Italics"/>
              </a:rPr>
              <a:t>Thank you</a:t>
            </a:r>
          </a:p>
        </p:txBody>
      </p:sp>
      <p:sp>
        <p:nvSpPr>
          <p:cNvPr name="TextBox 5" id="5"/>
          <p:cNvSpPr txBox="true"/>
          <p:nvPr/>
        </p:nvSpPr>
        <p:spPr>
          <a:xfrm rot="0">
            <a:off x="1028700" y="971550"/>
            <a:ext cx="5036818" cy="431800"/>
          </a:xfrm>
          <a:prstGeom prst="rect">
            <a:avLst/>
          </a:prstGeom>
        </p:spPr>
        <p:txBody>
          <a:bodyPr anchor="t" rtlCol="false" tIns="0" lIns="0" bIns="0" rIns="0">
            <a:spAutoFit/>
          </a:bodyPr>
          <a:lstStyle/>
          <a:p>
            <a:pPr algn="l">
              <a:lnSpc>
                <a:spcPts val="3499"/>
              </a:lnSpc>
            </a:pPr>
            <a:r>
              <a:rPr lang="en-US" sz="2499" b="true">
                <a:solidFill>
                  <a:srgbClr val="333333"/>
                </a:solidFill>
                <a:latin typeface="Public Sans Bold"/>
                <a:ea typeface="Public Sans Bold"/>
                <a:cs typeface="Public Sans Bold"/>
                <a:sym typeface="Public Sans Bold"/>
              </a:rPr>
              <a:t>Rimberio Co.</a:t>
            </a:r>
          </a:p>
        </p:txBody>
      </p:sp>
      <p:sp>
        <p:nvSpPr>
          <p:cNvPr name="TextBox 6" id="6"/>
          <p:cNvSpPr txBox="true"/>
          <p:nvPr/>
        </p:nvSpPr>
        <p:spPr>
          <a:xfrm rot="0">
            <a:off x="6352341" y="6260690"/>
            <a:ext cx="6085315" cy="615950"/>
          </a:xfrm>
          <a:prstGeom prst="rect">
            <a:avLst/>
          </a:prstGeom>
        </p:spPr>
        <p:txBody>
          <a:bodyPr anchor="t" rtlCol="false" tIns="0" lIns="0" bIns="0" rIns="0">
            <a:spAutoFit/>
          </a:bodyPr>
          <a:lstStyle/>
          <a:p>
            <a:pPr algn="ctr">
              <a:lnSpc>
                <a:spcPts val="4900"/>
              </a:lnSpc>
            </a:pPr>
            <a:r>
              <a:rPr lang="en-US" b="true" sz="3500">
                <a:solidFill>
                  <a:srgbClr val="333333"/>
                </a:solidFill>
                <a:latin typeface="Public Sans Bold"/>
                <a:ea typeface="Public Sans Bold"/>
                <a:cs typeface="Public Sans Bold"/>
                <a:sym typeface="Public Sans Bold"/>
              </a:rPr>
              <a:t>For your attention</a:t>
            </a:r>
          </a:p>
        </p:txBody>
      </p:sp>
      <p:sp>
        <p:nvSpPr>
          <p:cNvPr name="TextBox 7" id="7"/>
          <p:cNvSpPr txBox="true"/>
          <p:nvPr/>
        </p:nvSpPr>
        <p:spPr>
          <a:xfrm rot="0">
            <a:off x="12222482" y="971550"/>
            <a:ext cx="5036818" cy="431800"/>
          </a:xfrm>
          <a:prstGeom prst="rect">
            <a:avLst/>
          </a:prstGeom>
        </p:spPr>
        <p:txBody>
          <a:bodyPr anchor="t" rtlCol="false" tIns="0" lIns="0" bIns="0" rIns="0">
            <a:spAutoFit/>
          </a:bodyPr>
          <a:lstStyle/>
          <a:p>
            <a:pPr algn="r">
              <a:lnSpc>
                <a:spcPts val="3499"/>
              </a:lnSpc>
            </a:pPr>
            <a:r>
              <a:rPr lang="en-US" b="true" sz="2499">
                <a:solidFill>
                  <a:srgbClr val="333333"/>
                </a:solidFill>
                <a:latin typeface="Public Sans Bold"/>
                <a:ea typeface="Public Sans Bold"/>
                <a:cs typeface="Public Sans Bold"/>
                <a:sym typeface="Public Sans Bold"/>
              </a:rPr>
              <a:t>Company Presentation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DAGnnblYB4g</dc:identifier>
  <dcterms:modified xsi:type="dcterms:W3CDTF">2011-08-01T06:04:30Z</dcterms:modified>
  <cp:revision>1</cp:revision>
  <dc:title>Algo persenration</dc:title>
</cp:coreProperties>
</file>